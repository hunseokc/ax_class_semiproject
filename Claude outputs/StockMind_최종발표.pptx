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20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한 문장 소개: StockMind는 흩어진 주식 데이터 중 필요한 정보만 골라 보기 좋게 편집해 보여 주는 대시보드입니다. 오른쪽은 실제 홈 화면(라이트 모드).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한 문장으로: 국내·미국 주식의 시세·재무·공시를 한 DB에 모아 같은 기준(원화 환산·일봉)으로 비교하는 대시보드. 팀원별로 담당 파트를 한 줄씩 소개하고, 각자 담당 기능은 뒤에서 직접 설명한다고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정의. 입문자가 종목 하나를 보려면 PER·PBR·ROE 같은 지표를 각각 해석할 줄 알아야 하고, 데이터는 여러 사이트에 흩어져 있다. 게다가 같은 숫자라도 섹터마다 의미가 다르다: 부채가 많은 게 정상인 섹터가 있고, 원래 수익률이 낮은 섹터도 있다. 결국 문제는 정보가 부족한 게 아니라, 넘치는 정보를 읽어 낼 기준이 없다는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프로젝트의 핵심. 에디토리얼 띵킹에서 빌려온 사고방식: 좋은 편집은 정보를 더하는 게 아니라 고르고 줄이고 배치하는 것. StockMind의 모든 화면은 이 네 가지 원칙으로 설계했다. 다음 두 장에서 실제 화면으로 보여 드림.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= 신문 1면. 사용자가 홈에 들어오면 숫자 카드보다 먼저 "코스피·코스닥 동반 상승, 원화 강세" 같은 한 줄 요약을 읽게 된다. 섹터 히트맵과 심리 지수로 시장 분위기를 색과 숫자 하나로 보여 준다. 하단은 146개 종목을 다 보여 주지 않고 오늘 주목할 5개만 고른다.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PER, PBR, ROE를 그대로 늘어놓으면 입문자는 해석하지 못한다. 그래서 9개 지표를 5요소로 묶고, 다시 0~100점 하나로 줄였다. 대신 근거를 숨기지 않는다: 레이더 차트로 같은 섹터 평균·시장 중앙값과 비교하고, 계산 근거 보기로 원값까지 펼칠 수 있다. 점수는 투자 권유가 아니라 비교군 안의 상대 위치.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요구사항 정리. 조회 중심 화면 3개와, 등록·조회·수정·삭제가 모두 일어나는 사용자 기능 2개(관심종목, 모의 포트폴리오). 시연에서 이 두 기능으로 CRUD 전체를 보여 줄 예정. 로그인과 장중 시세는 1차 범위 밖이라 2차로.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절반은 데이터를 모으는 길: 4개 소스에서 받아 전처리하고 이상한 행(고가&lt;저가, 음수 거래량)은 따로 격리한 뒤 DB에 넣는다. 오른쪽 절반은 보여 주는 길: 화면이 API를 부르면 FastAPI는 DB만 읽어서 JSON으로 돌려준다. 두 길을 나눈 덕분에 외부 API 상태와 관계없이 화면이 빠르다. 기술 스택은 마지막 줄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NVIDIA 14주를 담는 예시. 브라우저가 JSON을 보내면 FastAPI가 Pydantic으로 형식을 검사하고, 서비스 계층이 내 포트폴리오가 맞는지, 시드를 넘지 않는지 확인한다. 통과하면 portfolio_items에 저장하는데, 이때 담은 날의 가격과 환율을 함께 복사해 둔다. 응답 JSON은 핵심 필드만 간추린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데이터는 stocks(종목)를 중심으로 붙는다. 시세·재무·공시는 한 종목에 여러 행이 붙는 1:N, 경쟁 그룹은 한 종목이 여러 그룹에 들어갈 수 있어 연결 테이블로 N:M. 사용자 쪽(파란 박스)은 users 아래로 분리해 관심종목과 포트폴리오를 둔다. 대부분 정규화했지만, portfolio_items에는 담은 날의 가격·환율을 일부러 복사했다. 시세가 나중에 바뀌어도 손익을 계산하려면 그때 값이 필요하기 때문.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편집의 엔진. 점수 계산을 파이썬이 아니라 SQL(CTE, 윈도우·집계 함수)로 처리한다. 2단계 로버스트 Z: 평균 대신 중앙값과 MAD를 써서 극단적인 종목에 흔들리지 않게 하고, ±3에서 잘라 한 지표가 점수를 독차지하지 못하게 한다. 3단계: 은행과 반도체는 PBR 수준 자체가 다르므로 섹터 평균을 빼서 보정. 4단계: 위험·성장·균형·가치 성향마다 가중치를 달리해 0~100점으로 변환. 담당자: [이름]이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실제 서비스로 넘어가 시연 (10분). 1~2는 조회, 3~6(채워진 원)은 등록 → 조회 → 수정 → 삭제 CRUD 흐름. 시연 중 개발자 도구 Network 탭을 열어 API 요청·응답 JSON을 보여 주면 프론트-백엔드-DB 연동 확인이 쉬움. 시드 초과 409 에러도 일부러 한 번 보여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왼쪽: 오류 메시지도 없이 빈 결과만 와서 발견이 늦어질 수 있는 유형. 로그인 유무로 응답을 비교하는 smoke test로 원인을 좁혔다. 이후 Cloud Run 배포 환경에서 로그인이 간헐적으로 실패해서, 국내 데이터 조회를 그대로 대신할 수 있는 KIS를 옵션으로 추가했다. 오른쪽: 팀 협업 문제. Stage 2에서 서로 다른 스키마를 가정해 통합 때 보정이 필요했고, 이후 단계마다 인터페이스를 먼저 문서로 정하고(contracts) 검사 스크립트를 통과해야 머지하도록 바꿨다.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회고는 짧게 말로: 새로 배운 것(DB 설계, API, Git PR 협업). 이후 기능 소개, 특히 파란 카드 두 개. 미국 기관 투자자가 분기마다 내는 13F 공시로 유명 투자자의 보유 종목을 가져오고, 그 투자 방식을 분석해 모델로 만들면 "그 투자자라면 이 상황에 샀을까?"를 보여 줄 수 있다. 분석 결과를 이미 JSON으로 정리해 두었기 때문에 AI 보고서로도 자연스럽게 확장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질문은 담당자가 직접 답변. 데이터 흐름, 설계 이유, 오류 해결 질문이 예상됨. 필요하면 특정 기능 추가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5241"/>
            <a:ext cx="10566400" cy="411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5241"/>
            <a:ext cx="10566400" cy="411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ockMind 대시보드 홈 화면"/>
          <p:cNvPicPr>
            <a:picLocks noChangeAspect="1"/>
          </p:cNvPicPr>
          <p:nvPr/>
        </p:nvPicPr>
        <p:blipFill>
          <a:blip r:embed="rId3"/>
          <a:srcRect b="15692"/>
          <a:stretch/>
        </p:blipFill>
        <p:spPr>
          <a:xfrm>
            <a:off x="6915150" y="819150"/>
            <a:ext cx="4457700" cy="5219700"/>
          </a:xfrm>
          <a:prstGeom prst="roundRect">
            <a:avLst>
              <a:gd name="adj" fmla="val 3846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6911975" y="815975"/>
            <a:ext cx="4464050" cy="5226050"/>
          </a:xfrm>
          <a:prstGeom prst="roundRect">
            <a:avLst>
              <a:gd name="adj" fmla="val 3912"/>
            </a:avLst>
          </a:prstGeom>
          <a:noFill/>
          <a:ln w="6350">
            <a:solidFill>
              <a:srgbClr val="D2D7D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12800" y="863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5" name="Shape 2"/>
          <p:cNvSpPr/>
          <p:nvPr/>
        </p:nvSpPr>
        <p:spPr>
          <a:xfrm>
            <a:off x="965200" y="863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1016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7" name="Shape 4"/>
          <p:cNvSpPr/>
          <p:nvPr/>
        </p:nvSpPr>
        <p:spPr>
          <a:xfrm>
            <a:off x="965200" y="1016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8" name="Text 5"/>
          <p:cNvSpPr/>
          <p:nvPr/>
        </p:nvSpPr>
        <p:spPr>
          <a:xfrm>
            <a:off x="1193800" y="812800"/>
            <a:ext cx="15994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kern="0" spc="-25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</a:t>
            </a:r>
            <a:endParaRPr lang="en-US" sz="2000" dirty="0"/>
          </a:p>
        </p:txBody>
      </p:sp>
      <p:sp>
        <p:nvSpPr>
          <p:cNvPr id="9" name="Text 6"/>
          <p:cNvSpPr>
            <a:spLocks noGrp="1"/>
          </p:cNvSpPr>
          <p:nvPr>
            <p:ph type="title"/>
          </p:nvPr>
        </p:nvSpPr>
        <p:spPr>
          <a:xfrm>
            <a:off x="812800" y="2348309"/>
            <a:ext cx="5755640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정보의 홍수에서,</a:t>
            </a:r>
            <a:endParaRPr lang="en-US" sz="4800" dirty="0"/>
          </a:p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필요한 것만.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12800" y="3953470"/>
            <a:ext cx="5755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국내·미국 주식 분석 대시보드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2800" y="5488980"/>
            <a:ext cx="57556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 C · 최석훈 · 류한솔 · 이태경 · 하재현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800" y="5831880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 서비스 풀스택 빌더 1차 프로젝트 최종 발표 · 2026.10.20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· PROJECT · 프로젝트 소개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흩어진 주식 데이터를, 한 화면 같은 기준으로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5241"/>
            <a:ext cx="3420467" cy="886420"/>
          </a:xfrm>
          <a:prstGeom prst="roundRect">
            <a:avLst>
              <a:gd name="adj" fmla="val 17193"/>
            </a:avLst>
          </a:prstGeom>
          <a:solidFill>
            <a:srgbClr val="F6F7F7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03041"/>
            <a:ext cx="30521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개발 기간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367161"/>
            <a:ext cx="30521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2026.10.2 – 10.21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5667" y="1925241"/>
            <a:ext cx="3420566" cy="886420"/>
          </a:xfrm>
          <a:prstGeom prst="roundRect">
            <a:avLst>
              <a:gd name="adj" fmla="val 17193"/>
            </a:avLst>
          </a:prstGeom>
          <a:solidFill>
            <a:srgbClr val="F6F7F7"/>
          </a:solidFill>
          <a:ln/>
        </p:spPr>
      </p:sp>
      <p:sp>
        <p:nvSpPr>
          <p:cNvPr id="8" name="Text 6"/>
          <p:cNvSpPr/>
          <p:nvPr/>
        </p:nvSpPr>
        <p:spPr>
          <a:xfrm>
            <a:off x="4614267" y="2103041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 구성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4267" y="2367161"/>
            <a:ext cx="30522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8634" y="1925241"/>
            <a:ext cx="3420566" cy="886420"/>
          </a:xfrm>
          <a:prstGeom prst="roundRect">
            <a:avLst>
              <a:gd name="adj" fmla="val 17193"/>
            </a:avLst>
          </a:prstGeom>
          <a:solidFill>
            <a:srgbClr val="F6F7F7"/>
          </a:solidFill>
          <a:ln/>
        </p:spPr>
      </p:sp>
      <p:sp>
        <p:nvSpPr>
          <p:cNvPr id="11" name="Text 9"/>
          <p:cNvSpPr/>
          <p:nvPr/>
        </p:nvSpPr>
        <p:spPr>
          <a:xfrm>
            <a:off x="8187234" y="2103041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협업 방식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7234" y="2367161"/>
            <a:ext cx="30522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6단계 </a:t>
            </a:r>
            <a:r>
              <a:rPr lang="ko-KR" alt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버전 </a:t>
            </a: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PR로만 통합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A · 프론트엔드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4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 err="1">
                <a:solidFill>
                  <a:srgbClr val="0D1633"/>
                </a:solidFill>
                <a:latin typeface="Plus Jakarta Sans" pitchFamily="34" charset="0"/>
              </a:rPr>
              <a:t>이태경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4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화면 4종 · 공통 컴포넌트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 연동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로딩·빈 상태·오류 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25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7211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B · 백엔드 API·DB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211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하재현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211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FastAPI 라우터 · SQL·VIEW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 CRUD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재무·공시 수집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C · 수집·분석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 err="1">
                <a:solidFill>
                  <a:srgbClr val="0D1633"/>
                </a:solidFill>
                <a:latin typeface="Plus Jakarta Sans" pitchFamily="34" charset="0"/>
              </a:rPr>
              <a:t>류한솔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시세 수집 · 전처리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포트폴리오 계산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매력도 점수 모델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519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DCE4FA"/>
          </a:solidFill>
          <a:ln/>
        </p:spPr>
      </p:sp>
      <p:sp>
        <p:nvSpPr>
          <p:cNvPr id="26" name="Text 24"/>
          <p:cNvSpPr/>
          <p:nvPr/>
        </p:nvSpPr>
        <p:spPr>
          <a:xfrm>
            <a:off x="90805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D · 통합 (팀장)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805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최석훈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805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아키텍처 · 인터페이스 계약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 리뷰 · 단계별 통합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갱신 스케줄러 · Docker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· BACKGROUND · 기획 배경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정보는 넘치는데, 읽는 법은 따로 공부해야 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5241"/>
            <a:ext cx="3420467" cy="3040459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30041"/>
            <a:ext cx="299984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PER·PBR·ROE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6800" y="2748161"/>
            <a:ext cx="29998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지표마다 읽는 법이 다르다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3103761"/>
            <a:ext cx="299984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PER이 낮으면 싼 걸까?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PBR 1배 미만은 좋은 신호일까?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ROE는 몇 %면 높은 걸까?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667" y="1925241"/>
            <a:ext cx="3420566" cy="3040459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39667" y="2230041"/>
            <a:ext cx="299994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4곳의 출처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39667" y="274816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데이터가 흩어져 있다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9667" y="3103761"/>
            <a:ext cx="29999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시세·재무·공시가 사이트마다 따로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원화·달러, K-IFRS·US-GAAP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34" y="1925241"/>
            <a:ext cx="3420566" cy="3040459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12634" y="2230041"/>
            <a:ext cx="299994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수십 개 섹터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12634" y="274816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섹터마다 기준이 다르다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12634" y="3103761"/>
            <a:ext cx="299994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부채가 많은 게 보통인 섹터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수익률이 원래 낮은 섹터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 섹터별로 공부할 게 너무 많다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5270500"/>
            <a:ext cx="10566400" cy="571500"/>
          </a:xfrm>
          <a:prstGeom prst="roundRect">
            <a:avLst>
              <a:gd name="adj" fmla="val 50000"/>
            </a:avLst>
          </a:prstGeom>
          <a:solidFill>
            <a:srgbClr val="DCE4FA"/>
          </a:solidFill>
          <a:ln/>
        </p:spPr>
      </p:sp>
      <p:pic>
        <p:nvPicPr>
          <p:cNvPr id="17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5429250"/>
            <a:ext cx="254000" cy="254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47800" y="5422900"/>
            <a:ext cx="574024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주요 사용자</a:t>
            </a:r>
            <a:r>
              <a:rPr lang="en-US" sz="15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· 국내·미국 주식을 함께 보는 개인 투자 입문자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34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IDEA · EDITORIAL THINKING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더 많은 데이터가 아니라,</a:t>
            </a:r>
            <a:endParaRPr lang="en-US" sz="4800" dirty="0"/>
          </a:p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잘 편집된 데이터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834481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신문 편집자가 1면을 고르듯, 무엇을 보여 주고 무엇을 뺄지 먼저 정했습니다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4460280"/>
            <a:ext cx="2527300" cy="1584920"/>
          </a:xfrm>
          <a:prstGeom prst="roundRect">
            <a:avLst>
              <a:gd name="adj" fmla="val 1121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468888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4978400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고른다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1400" y="5359400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146개 중 오늘 볼 5개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관심종목을 맨 먼저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2500" y="4460280"/>
            <a:ext cx="2527300" cy="1584920"/>
          </a:xfrm>
          <a:prstGeom prst="roundRect">
            <a:avLst>
              <a:gd name="adj" fmla="val 1121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21100" y="468888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1100" y="4978400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줄인다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21100" y="5359400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지표 9개 → 점수 1개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숫자 대신 한 줄 문장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460280"/>
            <a:ext cx="2527300" cy="1584920"/>
          </a:xfrm>
          <a:prstGeom prst="roundRect">
            <a:avLst>
              <a:gd name="adj" fmla="val 1121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68888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978400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배치한다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5359400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큰 숫자 → 등락 → 근거 순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빨강·파랑은 등락에만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1900" y="4460280"/>
            <a:ext cx="2527300" cy="1584920"/>
          </a:xfrm>
          <a:prstGeom prst="roundRect">
            <a:avLst>
              <a:gd name="adj" fmla="val 1121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080500" y="468888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80500" y="4978400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맥락을 붙인다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80500" y="5359400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기준일 · 직전 거래일 배지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비교군 평균과 함께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편집 ① · 홈 화면은 신문의 1면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ko-KR" alt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오늘 주식 시장을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순위</a:t>
            </a:r>
            <a:r>
              <a:rPr lang="ko-KR" alt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로 한 눈에</a:t>
            </a:r>
            <a:endParaRPr lang="en-US" sz="3200" dirty="0"/>
          </a:p>
        </p:txBody>
      </p:sp>
      <p:pic>
        <p:nvPicPr>
          <p:cNvPr id="4" name="Image 0" descr="홈 상단: 한 줄 시장 요약과 지수·환율 카드"/>
          <p:cNvPicPr>
            <a:picLocks noChangeAspect="1"/>
          </p:cNvPicPr>
          <p:nvPr/>
        </p:nvPicPr>
        <p:blipFill>
          <a:blip r:embed="rId3"/>
          <a:srcRect l="-417" r="-417"/>
          <a:stretch/>
        </p:blipFill>
        <p:spPr>
          <a:xfrm>
            <a:off x="812800" y="1874441"/>
            <a:ext cx="5715000" cy="1429246"/>
          </a:xfrm>
          <a:prstGeom prst="rect">
            <a:avLst/>
          </a:prstGeom>
        </p:spPr>
      </p:pic>
      <p:pic>
        <p:nvPicPr>
          <p:cNvPr id="5" name="Image 1" descr="홈 하단: 시장 주목 종목 TOP 5 카드 4장"/>
          <p:cNvPicPr>
            <a:picLocks noChangeAspect="1"/>
          </p:cNvPicPr>
          <p:nvPr/>
        </p:nvPicPr>
        <p:blipFill>
          <a:blip r:embed="rId4"/>
          <a:srcRect l="-477" r="-477"/>
          <a:stretch/>
        </p:blipFill>
        <p:spPr>
          <a:xfrm>
            <a:off x="812800" y="3405287"/>
            <a:ext cx="5715000" cy="24367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34200" y="2842220"/>
            <a:ext cx="266204" cy="5080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27404" y="2842220"/>
            <a:ext cx="37979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한 줄 시장 요약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27404" y="3121620"/>
            <a:ext cx="442483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지수 6개를 읽기 전에 문장 하나로 — 규칙 기반 문장 조합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934200" y="3604220"/>
            <a:ext cx="294084" cy="508000"/>
          </a:xfrm>
          <a:custGeom>
            <a:avLst/>
            <a:gdLst/>
            <a:ahLst/>
            <a:cxnLst/>
            <a:rect l="l" t="t" r="r" b="b"/>
            <a:pathLst>
              <a:path w="294084" h="508000">
                <a:moveTo>
                  <a:pt x="147042" y="0"/>
                </a:moveTo>
                <a:lnTo>
                  <a:pt x="147042" y="0"/>
                </a:lnTo>
                <a:arcTo wR="147042" hR="147042" stAng="16200000" swAng="5400000"/>
                <a:lnTo>
                  <a:pt x="294084" y="360958"/>
                </a:lnTo>
                <a:arcTo wR="147042" hR="147042" stAng="0" swAng="5400000"/>
                <a:lnTo>
                  <a:pt x="147042" y="508000"/>
                </a:lnTo>
                <a:arcTo wR="147042" hR="147042" stAng="5400000" swAng="5400000"/>
                <a:lnTo>
                  <a:pt x="0" y="147042"/>
                </a:lnTo>
                <a:arcTo wR="147042" hR="147042" stAng="10800000" swAng="5400000"/>
                <a:close/>
              </a:path>
            </a:pathLst>
          </a:custGeom>
          <a:solidFill>
            <a:srgbClr val="1034B3"/>
          </a:solidFill>
          <a:ln/>
        </p:spPr>
        <p:txBody>
          <a:bodyPr wrap="none" lIns="0" tIns="38100" rIns="0" bIns="127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55284" y="3604220"/>
            <a:ext cx="35897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시장 분위기를 한눈에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55284" y="3883620"/>
            <a:ext cx="41821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섹터 히트맵과 시장 심리 지수 — 색 한 장, 숫자 하나로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934200" y="4366220"/>
            <a:ext cx="296565" cy="508000"/>
          </a:xfrm>
          <a:custGeom>
            <a:avLst/>
            <a:gdLst/>
            <a:ahLst/>
            <a:cxnLst/>
            <a:rect l="l" t="t" r="r" b="b"/>
            <a:pathLst>
              <a:path w="296565" h="508000">
                <a:moveTo>
                  <a:pt x="148282" y="0"/>
                </a:moveTo>
                <a:lnTo>
                  <a:pt x="148282" y="0"/>
                </a:lnTo>
                <a:arcTo wR="148282" hR="148282" stAng="16200000" swAng="5400000"/>
                <a:lnTo>
                  <a:pt x="296565" y="359718"/>
                </a:lnTo>
                <a:arcTo wR="148282" hR="148282" stAng="0" swAng="5400000"/>
                <a:lnTo>
                  <a:pt x="148282" y="508000"/>
                </a:lnTo>
                <a:arcTo wR="148282" hR="148282" stAng="5400000" swAng="5400000"/>
                <a:lnTo>
                  <a:pt x="0" y="148282"/>
                </a:lnTo>
                <a:arcTo wR="148282" hR="148282" stAng="10800000" swAng="5400000"/>
                <a:close/>
              </a:path>
            </a:pathLst>
          </a:custGeom>
          <a:solidFill>
            <a:srgbClr val="1034B3"/>
          </a:solidFill>
          <a:ln/>
        </p:spPr>
        <p:txBody>
          <a:bodyPr wrap="none" lIns="0" tIns="38100" rIns="0" bIns="127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57765" y="4366220"/>
            <a:ext cx="35573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전부 대신 TOP 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57765" y="4645620"/>
            <a:ext cx="41444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거래량 급증 · 매력도 순위만, 국내·미국 카드 4장으로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편집 ② · 종목 상세의 투자 매력도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지표 9개를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점수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하나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문장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하나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39640"/>
            <a:ext cx="3810000" cy="1076920"/>
          </a:xfrm>
          <a:prstGeom prst="roundRect">
            <a:avLst>
              <a:gd name="adj" fmla="val 1415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217440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지표 9개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481560"/>
            <a:ext cx="35057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E/P · B/P · ROE · 영업이익률 · 매출 성장률 · EPS 변화 · 최대 낙폭 · 변동성 · 모멘텀</a:t>
            </a:r>
            <a:endParaRPr lang="en-US" sz="1200" dirty="0"/>
          </a:p>
        </p:txBody>
      </p:sp>
      <p:pic>
        <p:nvPicPr>
          <p:cNvPr id="7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8900" y="3192760"/>
            <a:ext cx="177800" cy="279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2800" y="3548360"/>
            <a:ext cx="3810000" cy="848320"/>
          </a:xfrm>
          <a:prstGeom prst="roundRect">
            <a:avLst>
              <a:gd name="adj" fmla="val 17965"/>
            </a:avLst>
          </a:prstGeom>
          <a:solidFill>
            <a:srgbClr val="DCE4FA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3726160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5요소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16000" y="3990280"/>
            <a:ext cx="35057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저평가 · 수익성 · 성장성 · 안정성 · 주가 흐름</a:t>
            </a:r>
            <a:endParaRPr lang="en-US" sz="1200" dirty="0"/>
          </a:p>
        </p:txBody>
      </p:sp>
      <p:pic>
        <p:nvPicPr>
          <p:cNvPr id="11" name="Image 1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8900" y="4472880"/>
            <a:ext cx="177800" cy="279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2800" y="4828480"/>
            <a:ext cx="3810000" cy="848320"/>
          </a:xfrm>
          <a:prstGeom prst="roundRect">
            <a:avLst>
              <a:gd name="adj" fmla="val 17965"/>
            </a:avLst>
          </a:prstGeom>
          <a:solidFill>
            <a:srgbClr val="1034B3"/>
          </a:solidFill>
          <a:ln/>
        </p:spPr>
      </p:sp>
      <p:sp>
        <p:nvSpPr>
          <p:cNvPr id="13" name="Text 9"/>
          <p:cNvSpPr/>
          <p:nvPr/>
        </p:nvSpPr>
        <p:spPr>
          <a:xfrm>
            <a:off x="1016000" y="5006280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매력도 75 / 100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16000" y="5270401"/>
            <a:ext cx="35057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“주가 흐름은 강한 편, 수익성은 약한 편”</a:t>
            </a:r>
            <a:endParaRPr lang="en-US" sz="1200" dirty="0"/>
          </a:p>
        </p:txBody>
      </p:sp>
      <p:pic>
        <p:nvPicPr>
          <p:cNvPr id="15" name="Image 2" descr="종목 상세의 투자 매력도 패널: 점수 게이지, 레이더 차트, 5요소 카드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5029200" y="2035770"/>
            <a:ext cx="6350000" cy="3644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REQUIREMENTS · 주요 기능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5개 화면, 기능별 구현 현황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4441"/>
            <a:ext cx="10566400" cy="2917627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74441"/>
            <a:ext cx="10566400" cy="2917627"/>
          </a:xfrm>
          <a:custGeom>
            <a:avLst/>
            <a:gdLst/>
            <a:ahLst/>
            <a:cxnLst/>
            <a:rect l="l" t="t" r="r" b="b"/>
            <a:pathLst>
              <a:path w="10566400" h="2917627">
                <a:moveTo>
                  <a:pt x="177800" y="2917627"/>
                </a:moveTo>
                <a:lnTo>
                  <a:pt x="177800" y="2917627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lnTo>
                  <a:pt x="10388600" y="0"/>
                </a:lnTo>
                <a:arcTo wR="177800" hR="177800" stAng="16200000" swAng="5400000"/>
                <a:lnTo>
                  <a:pt x="10566400" y="177800"/>
                </a:lnTo>
                <a:arcTo wR="177800" hR="165100" stAng="0" swAng="-5400000"/>
                <a:lnTo>
                  <a:pt x="177800" y="12700"/>
                </a:lnTo>
                <a:arcTo wR="165100" hR="165100" stAng="16200000" swAng="-5400000"/>
                <a:lnTo>
                  <a:pt x="12700" y="2739827"/>
                </a:lnTo>
                <a:arcTo wR="165100" hR="1778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3300" y="1988741"/>
          <a:ext cx="10198100" cy="2701727"/>
        </p:xfrm>
        <a:graphic>
          <a:graphicData uri="http://schemas.openxmlformats.org/drawingml/2006/table">
            <a:tbl>
              <a:tblPr/>
              <a:tblGrid>
                <a:gridCol w="203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화면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주요 기능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데이터 처리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상태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대시보드 홈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지수·환율, 시장 심리, 섹터 히트맵, 주목 종목 TOP 5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조회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주식 리스트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거래량·시가총액 순위, 검색·그룹·섹터 필터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조회·검색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종목 상세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가격 차트, 매력도, 재무·공시, 경쟁 종목 비교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조회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관심종목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추가 · 메모·목표가 수정 · 순서 변경 · 삭제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CRUD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모의 포트폴리오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시드 설정, 담기·수정·삭제, 가격·환율 효과 손익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CRUD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로그인 · 장중 시세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JWT 로그인, 실시간에 가까운 시세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—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37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2차 예정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046067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로그인 대신 브라우저별 게스트 세션으로 사용자를 나누고, 남의 관심종목·포트폴리오는 404로 막습니다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· ARCHITECTURE · 시스템 구성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모으는 길과 보여 주는 길을 나눴다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외부 소스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060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 4곳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621161"/>
            <a:ext cx="1402060" cy="689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pykrx · yfinance OpenDART · SEC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KIS (국내 예비)</a:t>
            </a:r>
            <a:endParaRPr lang="en-US" sz="1200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1260" y="2599805"/>
            <a:ext cx="3048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7660" y="1874441"/>
            <a:ext cx="1706959" cy="1552329"/>
          </a:xfrm>
          <a:prstGeom prst="roundRect">
            <a:avLst>
              <a:gd name="adj" fmla="val 11279"/>
            </a:avLst>
          </a:prstGeom>
          <a:solidFill>
            <a:srgbClr val="DCE4FA"/>
          </a:solidFill>
          <a:ln/>
        </p:spPr>
      </p:sp>
      <p:sp>
        <p:nvSpPr>
          <p:cNvPr id="10" name="Text 7"/>
          <p:cNvSpPr/>
          <p:nvPr/>
        </p:nvSpPr>
        <p:spPr>
          <a:xfrm>
            <a:off x="3205460" y="2052241"/>
            <a:ext cx="1402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수집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5460" y="2329061"/>
            <a:ext cx="14021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5460" y="2621161"/>
            <a:ext cx="14021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전처리 · 이상 행 격리 · upsert</a:t>
            </a:r>
            <a:endParaRPr lang="en-US" sz="1200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36220" y="2599805"/>
            <a:ext cx="3048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4262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1034B3"/>
          </a:solidFill>
          <a:ln/>
        </p:spPr>
      </p:sp>
      <p:sp>
        <p:nvSpPr>
          <p:cNvPr id="15" name="Text 11"/>
          <p:cNvSpPr/>
          <p:nvPr/>
        </p:nvSpPr>
        <p:spPr>
          <a:xfrm>
            <a:off x="542042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저장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2042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420420" y="262116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테이블 25 · VIEW 3</a:t>
            </a:r>
            <a:endParaRPr lang="en-US" sz="1200" dirty="0"/>
          </a:p>
        </p:txBody>
      </p:sp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1080" y="2599805"/>
            <a:ext cx="3048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5748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763528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조회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3528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FastAPI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635280" y="2621161"/>
            <a:ext cx="1402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/api/v1 조회·분석·CRUD</a:t>
            </a:r>
            <a:endParaRPr lang="en-US" sz="1200" dirty="0"/>
          </a:p>
        </p:txBody>
      </p:sp>
      <p:pic>
        <p:nvPicPr>
          <p:cNvPr id="23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5940" y="2599805"/>
            <a:ext cx="304800" cy="101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7234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985014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화면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85014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브라우저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850140" y="2621161"/>
            <a:ext cx="1402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HTML · CSS · JS Chart.js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12800" y="3553770"/>
            <a:ext cx="3911600" cy="365720"/>
          </a:xfrm>
          <a:prstGeom prst="roundRect">
            <a:avLst>
              <a:gd name="adj" fmla="val 50000"/>
            </a:avLst>
          </a:prstGeom>
          <a:solidFill>
            <a:srgbClr val="DCE4FA"/>
          </a:solidFill>
          <a:ln/>
        </p:spPr>
        <p:txBody>
          <a:bodyPr wrap="square" lIns="70902" tIns="22642" rIns="70902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모으는 길 · 4시간마다, 외부 호출은 여기서만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442200" y="3553770"/>
            <a:ext cx="3937000" cy="36572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/>
        </p:spPr>
        <p:txBody>
          <a:bodyPr wrap="square" lIns="70521" tIns="22642" rIns="705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보여 주는 길 · 요청마다, DB만 읽는다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12800" y="4173490"/>
            <a:ext cx="3420467" cy="1092200"/>
          </a:xfrm>
          <a:prstGeom prst="roundRect">
            <a:avLst>
              <a:gd name="adj" fmla="val 13953"/>
            </a:avLst>
          </a:prstGeom>
          <a:solidFill>
            <a:srgbClr val="F6F7F7"/>
          </a:solidFill>
          <a:ln/>
        </p:spPr>
      </p:sp>
      <p:sp>
        <p:nvSpPr>
          <p:cNvPr id="31" name="Text 25"/>
          <p:cNvSpPr/>
          <p:nvPr/>
        </p:nvSpPr>
        <p:spPr>
          <a:xfrm>
            <a:off x="1016000" y="4351290"/>
            <a:ext cx="31044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빠르고 안전한 화면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016000" y="4630690"/>
            <a:ext cx="310448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외부 API가 느리거나 막혀도 화면은 DB 값으로 바로 뜬다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385667" y="4173490"/>
            <a:ext cx="3420566" cy="1092200"/>
          </a:xfrm>
          <a:prstGeom prst="roundRect">
            <a:avLst>
              <a:gd name="adj" fmla="val 13953"/>
            </a:avLst>
          </a:prstGeom>
          <a:solidFill>
            <a:srgbClr val="F6F7F7"/>
          </a:solidFill>
          <a:ln/>
        </p:spPr>
      </p:sp>
      <p:sp>
        <p:nvSpPr>
          <p:cNvPr id="34" name="Text 28"/>
          <p:cNvSpPr/>
          <p:nvPr/>
        </p:nvSpPr>
        <p:spPr>
          <a:xfrm>
            <a:off x="4588867" y="4351290"/>
            <a:ext cx="31045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다시 넣어도 그대로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4588867" y="4630690"/>
            <a:ext cx="310459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upsert로 재적재해도 행 수가 늘지 </a:t>
            </a:r>
            <a:r>
              <a:rPr lang="en-US" sz="1200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않는다</a:t>
            </a: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(멱등)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958634" y="4173490"/>
            <a:ext cx="3420566" cy="1092200"/>
          </a:xfrm>
          <a:prstGeom prst="roundRect">
            <a:avLst>
              <a:gd name="adj" fmla="val 13953"/>
            </a:avLst>
          </a:prstGeom>
          <a:solidFill>
            <a:srgbClr val="F6F7F7"/>
          </a:solidFill>
          <a:ln/>
        </p:spPr>
      </p:sp>
      <p:sp>
        <p:nvSpPr>
          <p:cNvPr id="37" name="Text 31"/>
          <p:cNvSpPr/>
          <p:nvPr/>
        </p:nvSpPr>
        <p:spPr>
          <a:xfrm>
            <a:off x="8161834" y="4351290"/>
            <a:ext cx="31045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한 번만 실행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8161834" y="4630690"/>
            <a:ext cx="310459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4시간 TTL + DB 잠금(advisory lock)으로 중복 호출 방지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12800" y="55196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Python 3.12 · FastAPI · SQLAlchemy 2 · PostgreSQL 16 · Docker Compose · pytest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· DATA FLOW · 요청 하나 따라가기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‘담기’ 버튼 하나가 지나가는 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4441"/>
            <a:ext cx="2011660" cy="1089620"/>
          </a:xfrm>
          <a:prstGeom prst="roundRect">
            <a:avLst>
              <a:gd name="adj" fmla="val 139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52241"/>
            <a:ext cx="17068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· 브라우저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0600" y="232906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담기 모달에서 수량 입력 → JSON 전송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51460" y="1874441"/>
            <a:ext cx="2011759" cy="1089620"/>
          </a:xfrm>
          <a:prstGeom prst="roundRect">
            <a:avLst>
              <a:gd name="adj" fmla="val 1398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129260" y="2052241"/>
            <a:ext cx="1706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· FastAPI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29260" y="2329061"/>
            <a:ext cx="170695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Pydantic 형식 검사 틀리면 422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90220" y="1874441"/>
            <a:ext cx="2011660" cy="1089620"/>
          </a:xfrm>
          <a:prstGeom prst="roundRect">
            <a:avLst>
              <a:gd name="adj" fmla="val 1398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268020" y="2052241"/>
            <a:ext cx="17068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· 서비스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68020" y="232906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내 포트폴리오인지 404 · 시드 초과 409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8880" y="1874441"/>
            <a:ext cx="2011660" cy="1089620"/>
          </a:xfrm>
          <a:prstGeom prst="roundRect">
            <a:avLst>
              <a:gd name="adj" fmla="val 13987"/>
            </a:avLst>
          </a:prstGeom>
          <a:solidFill>
            <a:srgbClr val="DCE4FA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80" y="2052241"/>
            <a:ext cx="17068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· PostgreSQL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80" y="232906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INSERT · 담은 날 가격·환율도 저장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67540" y="1874441"/>
            <a:ext cx="2011660" cy="1089620"/>
          </a:xfrm>
          <a:prstGeom prst="roundRect">
            <a:avLst>
              <a:gd name="adj" fmla="val 1398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545340" y="2052241"/>
            <a:ext cx="17068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· 응답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45340" y="232906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 + JSON → 표·요약 다시 그림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218061"/>
            <a:ext cx="5207000" cy="2623939"/>
          </a:xfrm>
          <a:prstGeom prst="roundRect">
            <a:avLst>
              <a:gd name="adj" fmla="val 6776"/>
            </a:avLst>
          </a:prstGeom>
          <a:solidFill>
            <a:srgbClr val="0D1633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344666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요청 · Request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6800" y="3761581"/>
            <a:ext cx="483997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POST /api/v1/portfolios/1/items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"market": "NASDAQ",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"ticker": "NVDA",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"mode": "quantity",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"value": 14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218061"/>
            <a:ext cx="5207000" cy="2623939"/>
          </a:xfrm>
          <a:prstGeom prst="roundRect">
            <a:avLst>
              <a:gd name="adj" fmla="val 6776"/>
            </a:avLst>
          </a:prstGeom>
          <a:solidFill>
            <a:srgbClr val="0D16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26200" y="344666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응답 · Response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26200" y="3761581"/>
            <a:ext cx="483997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201 Created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"quantity": 14,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"ref_price": "226.32",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"ref_fx_rate": "1342.31",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"ref_date": "2026-10-12"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· DATABASE · ERD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종목을 가운데 두고, 사용자 데이터는 따로</a:t>
            </a:r>
            <a:endParaRPr lang="en-US" sz="3200" dirty="0"/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71700" y="3792141"/>
            <a:ext cx="774700" cy="762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95700" y="3138091"/>
            <a:ext cx="76200" cy="36195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95700" y="4160441"/>
            <a:ext cx="76200" cy="419100"/>
          </a:xfrm>
          <a:prstGeom prst="rect">
            <a:avLst/>
          </a:prstGeom>
        </p:spPr>
      </p:pic>
      <p:pic>
        <p:nvPicPr>
          <p:cNvPr id="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1200" y="2153841"/>
            <a:ext cx="1409700" cy="1473200"/>
          </a:xfrm>
          <a:prstGeom prst="rect">
            <a:avLst/>
          </a:prstGeom>
        </p:spPr>
      </p:pic>
      <p:pic>
        <p:nvPicPr>
          <p:cNvPr id="8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21200" y="4033441"/>
            <a:ext cx="1409700" cy="1054100"/>
          </a:xfrm>
          <a:prstGeom prst="rect">
            <a:avLst/>
          </a:prstGeom>
        </p:spPr>
      </p:pic>
      <p:pic>
        <p:nvPicPr>
          <p:cNvPr id="9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43700" y="2471341"/>
            <a:ext cx="76200" cy="393700"/>
          </a:xfrm>
          <a:prstGeom prst="rect">
            <a:avLst/>
          </a:prstGeom>
        </p:spPr>
      </p:pic>
      <p:pic>
        <p:nvPicPr>
          <p:cNvPr id="10" name="Image 6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43700" y="3423841"/>
            <a:ext cx="76200" cy="393700"/>
          </a:xfrm>
          <a:prstGeom prst="rect">
            <a:avLst/>
          </a:prstGeom>
        </p:spPr>
      </p:pic>
      <p:pic>
        <p:nvPicPr>
          <p:cNvPr id="11" name="Image 7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43700" y="4376341"/>
            <a:ext cx="76200" cy="393700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2463800" y="1874441"/>
            <a:ext cx="2540000" cy="1295202"/>
          </a:xfrm>
          <a:prstGeom prst="roundRect">
            <a:avLst>
              <a:gd name="adj" fmla="val 9805"/>
            </a:avLst>
          </a:prstGeom>
          <a:solidFill>
            <a:srgbClr val="FFFFFF"/>
          </a:solidFill>
          <a:ln/>
        </p:spPr>
      </p:sp>
      <p:sp>
        <p:nvSpPr>
          <p:cNvPr id="13" name="Text 3"/>
          <p:cNvSpPr/>
          <p:nvPr/>
        </p:nvSpPr>
        <p:spPr>
          <a:xfrm>
            <a:off x="2616200" y="1976041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시세·재무 데이터 · 1:N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2616200" y="2214761"/>
            <a:ext cx="230225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daily_prices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valuation_snapshots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financial_statements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disclosures</a:t>
            </a:r>
            <a:endParaRPr lang="en-US" sz="1200" dirty="0"/>
          </a:p>
        </p:txBody>
      </p:sp>
      <p:sp>
        <p:nvSpPr>
          <p:cNvPr id="15" name="Shape 5"/>
          <p:cNvSpPr/>
          <p:nvPr/>
        </p:nvSpPr>
        <p:spPr>
          <a:xfrm>
            <a:off x="812800" y="3512741"/>
            <a:ext cx="1397000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</p:spPr>
      </p:sp>
      <p:sp>
        <p:nvSpPr>
          <p:cNvPr id="16" name="Text 6"/>
          <p:cNvSpPr/>
          <p:nvPr/>
        </p:nvSpPr>
        <p:spPr>
          <a:xfrm>
            <a:off x="965200" y="3614341"/>
            <a:ext cx="1143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markets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965200" y="3853061"/>
            <a:ext cx="1143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시장</a:t>
            </a:r>
            <a:endParaRPr lang="en-US" sz="1200" dirty="0"/>
          </a:p>
        </p:txBody>
      </p:sp>
      <p:sp>
        <p:nvSpPr>
          <p:cNvPr id="18" name="Shape 8"/>
          <p:cNvSpPr/>
          <p:nvPr/>
        </p:nvSpPr>
        <p:spPr>
          <a:xfrm>
            <a:off x="2908300" y="3461941"/>
            <a:ext cx="1651000" cy="756841"/>
          </a:xfrm>
          <a:prstGeom prst="roundRect">
            <a:avLst>
              <a:gd name="adj" fmla="val 16780"/>
            </a:avLst>
          </a:prstGeom>
          <a:solidFill>
            <a:srgbClr val="1034B3"/>
          </a:solidFill>
          <a:ln/>
        </p:spPr>
      </p:sp>
      <p:sp>
        <p:nvSpPr>
          <p:cNvPr id="19" name="Text 9"/>
          <p:cNvSpPr/>
          <p:nvPr/>
        </p:nvSpPr>
        <p:spPr>
          <a:xfrm>
            <a:off x="3060700" y="3614341"/>
            <a:ext cx="1397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stocks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3060700" y="3853061"/>
            <a:ext cx="1397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 · 중심 테이블</a:t>
            </a:r>
            <a:endParaRPr lang="en-US" sz="1200" dirty="0"/>
          </a:p>
        </p:txBody>
      </p:sp>
      <p:sp>
        <p:nvSpPr>
          <p:cNvPr id="21" name="Shape 11"/>
          <p:cNvSpPr/>
          <p:nvPr/>
        </p:nvSpPr>
        <p:spPr>
          <a:xfrm>
            <a:off x="2463800" y="4541441"/>
            <a:ext cx="2540000" cy="868561"/>
          </a:xfrm>
          <a:prstGeom prst="roundRect">
            <a:avLst>
              <a:gd name="adj" fmla="val 14622"/>
            </a:avLst>
          </a:prstGeom>
          <a:solidFill>
            <a:srgbClr val="FFFFFF"/>
          </a:solidFill>
          <a:ln/>
        </p:spPr>
      </p:sp>
      <p:sp>
        <p:nvSpPr>
          <p:cNvPr id="22" name="Text 12"/>
          <p:cNvSpPr/>
          <p:nvPr/>
        </p:nvSpPr>
        <p:spPr>
          <a:xfrm>
            <a:off x="2616200" y="4643041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경쟁 그룹 · N:M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2616200" y="4881761"/>
            <a:ext cx="23022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peer_groups ⇄ peer_group_members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5892800" y="18744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DCE4FA"/>
          </a:solidFill>
          <a:ln/>
        </p:spPr>
      </p:sp>
      <p:sp>
        <p:nvSpPr>
          <p:cNvPr id="25" name="Text 15"/>
          <p:cNvSpPr/>
          <p:nvPr/>
        </p:nvSpPr>
        <p:spPr>
          <a:xfrm>
            <a:off x="6045200" y="19760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watchlist_items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6045200" y="22147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5892800" y="28269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</p:spPr>
      </p:sp>
      <p:sp>
        <p:nvSpPr>
          <p:cNvPr id="28" name="Text 18"/>
          <p:cNvSpPr/>
          <p:nvPr/>
        </p:nvSpPr>
        <p:spPr>
          <a:xfrm>
            <a:off x="6045200" y="29285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users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6045200" y="31672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사용자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5892800" y="37794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DCE4FA"/>
          </a:solidFill>
          <a:ln/>
        </p:spPr>
      </p:sp>
      <p:sp>
        <p:nvSpPr>
          <p:cNvPr id="31" name="Text 21"/>
          <p:cNvSpPr/>
          <p:nvPr/>
        </p:nvSpPr>
        <p:spPr>
          <a:xfrm>
            <a:off x="6045200" y="38810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portfolios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6045200" y="41197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모의 포트폴리오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5892800" y="47319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DCE4FA"/>
          </a:solidFill>
          <a:ln/>
        </p:spPr>
      </p:sp>
      <p:sp>
        <p:nvSpPr>
          <p:cNvPr id="34" name="Text 24"/>
          <p:cNvSpPr/>
          <p:nvPr/>
        </p:nvSpPr>
        <p:spPr>
          <a:xfrm>
            <a:off x="6045200" y="48335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portfolio_items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045200" y="50722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담은 종목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077200" y="28231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시장을 따로 뺀 이유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8077200" y="30898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국가·통화·시간대를 markets 한 곳에서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8077200" y="34962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N:M 연결 테이블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8077200" y="37629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한 종목이 여러 경쟁 그룹에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8077200" y="41693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의도적 비정규화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8077200" y="4436070"/>
            <a:ext cx="34010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담은 날 가격·환율을 복사 → ‘얼마에 담았나’가 남는다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 · 전체 25개 테이블 중 핵심만 표시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· IMPLEMENTATION · 핵심 기능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매력도 점수는 SQL 네 단계로 계산한다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4441"/>
            <a:ext cx="25463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52241"/>
            <a:ext cx="22041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6000" y="2471341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지표 원값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763441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종목마다 지표 9개 계산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86150" y="1874441"/>
            <a:ext cx="25463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89350" y="2052241"/>
            <a:ext cx="22041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89350" y="2471341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500" b="1" dirty="0"/>
              <a:t>국장은 국장끼리</a:t>
            </a:r>
            <a:endParaRPr lang="en-US" sz="1500" b="1" dirty="0"/>
          </a:p>
        </p:txBody>
      </p:sp>
      <p:sp>
        <p:nvSpPr>
          <p:cNvPr id="11" name="Text 9"/>
          <p:cNvSpPr/>
          <p:nvPr/>
        </p:nvSpPr>
        <p:spPr>
          <a:xfrm>
            <a:off x="3689350" y="2763441"/>
            <a:ext cx="220414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같은 나라 종목끼리 중앙값 기준 비교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9500" y="1874441"/>
            <a:ext cx="25463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62700" y="2052241"/>
            <a:ext cx="22041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2700" y="2471341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섹터 중립화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2700" y="2763441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업종마다 다른 평균을 보정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32850" y="1874441"/>
            <a:ext cx="2546350" cy="1524000"/>
          </a:xfrm>
          <a:prstGeom prst="roundRect">
            <a:avLst>
              <a:gd name="adj" fmla="val 10000"/>
            </a:avLst>
          </a:prstGeom>
          <a:solidFill>
            <a:srgbClr val="DCE4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36050" y="2052241"/>
            <a:ext cx="22041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36050" y="2471341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 ~ 100점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36050" y="2763441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투자 성향 4종 가중치로 합산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652441"/>
            <a:ext cx="6858000" cy="2189559"/>
          </a:xfrm>
          <a:prstGeom prst="roundRect">
            <a:avLst>
              <a:gd name="adj" fmla="val 8120"/>
            </a:avLst>
          </a:prstGeom>
          <a:solidFill>
            <a:srgbClr val="0D1633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3881041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score_zscore.sql · 핵심 부분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6800" y="4170561"/>
            <a:ext cx="6540500" cy="1442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8FA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국가·지표별 중앙값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PERCENTILE_CONT(0.5) WITHIN GROUP (ORDER BY raw_value)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8FA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Z = (값 − 중앙값) / (1.4826 × MAD)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(raw_value - med.m) / (1.4826 * mad.mad)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8FA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극단값은 ±3에서 자르기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F6F7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LEAST(3, GREATEST(-3, z))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23200" y="4188420"/>
            <a:ext cx="3662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왜 평균 대신 중앙값?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23200" y="4455120"/>
            <a:ext cx="3662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초대형주 하나가 기준을 끌고 가지 않도록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23200" y="4810720"/>
            <a:ext cx="3662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검증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23200" y="5077420"/>
            <a:ext cx="3662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손으로 계산한 값과 비교하는 테스트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· DEMO · 프로그램 시연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시나리오: 투자 입문자의 첫 사용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96622" y="2574549"/>
            <a:ext cx="940394" cy="950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03483" y="3778284"/>
            <a:ext cx="1540369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홈 둘러보기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32748" y="4221846"/>
            <a:ext cx="1505103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요약 · TOP 5</a:t>
            </a:r>
            <a:endParaRPr lang="en-US" sz="1600" dirty="0"/>
          </a:p>
        </p:txBody>
      </p:sp>
      <p:pic>
        <p:nvPicPr>
          <p:cNvPr id="7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14816" y="2955740"/>
            <a:ext cx="574578" cy="2298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07961" y="2574549"/>
            <a:ext cx="1012843" cy="950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46583" y="3778284"/>
            <a:ext cx="1242893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 상세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142260" y="4221846"/>
            <a:ext cx="1563729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매력도 · 근거</a:t>
            </a:r>
            <a:endParaRPr lang="en-US" sz="1600" dirty="0"/>
          </a:p>
        </p:txBody>
      </p:sp>
      <p:pic>
        <p:nvPicPr>
          <p:cNvPr id="1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43616" y="2955740"/>
            <a:ext cx="574578" cy="2298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5272" y="2574549"/>
            <a:ext cx="1019224" cy="950515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61083" y="3778284"/>
            <a:ext cx="1540369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 ★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062500" y="4221846"/>
            <a:ext cx="1285797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추가 · 메모</a:t>
            </a:r>
            <a:endParaRPr lang="en-US" sz="1600" dirty="0"/>
          </a:p>
        </p:txBody>
      </p:sp>
      <p:pic>
        <p:nvPicPr>
          <p:cNvPr id="15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2416" y="2955740"/>
            <a:ext cx="574578" cy="2298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59309" y="2574549"/>
            <a:ext cx="1038983" cy="950515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828469" y="3778284"/>
            <a:ext cx="1487382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포트폴리오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932972" y="4221846"/>
            <a:ext cx="1159135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시드 설정</a:t>
            </a:r>
            <a:endParaRPr lang="en-US" sz="1600" dirty="0"/>
          </a:p>
        </p:txBody>
      </p:sp>
      <p:pic>
        <p:nvPicPr>
          <p:cNvPr id="19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01216" y="2955740"/>
            <a:ext cx="574578" cy="2298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92673" y="2574549"/>
            <a:ext cx="1019841" cy="950515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810681" y="3778284"/>
            <a:ext cx="1242893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 담기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8462162" y="4221846"/>
            <a:ext cx="1888887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담기 · 수량 수정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3783654" y="5397517"/>
            <a:ext cx="771188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○</a:t>
            </a: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조회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489023" y="5397517"/>
            <a:ext cx="4563259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●</a:t>
            </a: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등록 → 조회 → 수정 → 삭제 (CRUD)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stockmind-538269380647.asia-northeast3.run.app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· TROUBLESHOOTING · 문제 해결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개발 중 만난 문제 두 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5241"/>
            <a:ext cx="5207000" cy="3916759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7924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외부 데이터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544961"/>
            <a:ext cx="48399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국내 시총·PER이 빈 값으로 왔다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6800" y="3002161"/>
            <a:ext cx="508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원인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51000" y="3002161"/>
            <a:ext cx="42382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pykrx가 KRX 로그인을 요구하는데, 계정 정보를 import 순간에만 읽음. 배포 환경(Cloud Run)에서는 로그인이 간헐적으로 실패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3855659"/>
            <a:ext cx="50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해결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51000" y="3855659"/>
            <a:ext cx="42382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import 전에 계정을 환경변수로 내보냄 + 국내 데이터는 pykrx 대신 KIS를 쓸 수 있는 옵션 추가, 실패 시 yfinance·DART 값으로 대체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470916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결과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51000" y="4709160"/>
            <a:ext cx="42382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새 DB 재현에서 적재 실패 0건, pykrx가 막혀도 KIS로 바꿔 수집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5241"/>
            <a:ext cx="5207000" cy="3916759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217924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협업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6200" y="2544961"/>
            <a:ext cx="48399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합칠 때마다 서로 규격이 어긋났다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26200" y="3002161"/>
            <a:ext cx="50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원인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10400" y="3002161"/>
            <a:ext cx="42382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각자 다른 응답 형식·컬럼을 가정 (예: users·portfolios 스키마 불일치)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6200" y="3855659"/>
            <a:ext cx="50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해결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10400" y="3855659"/>
            <a:ext cx="42382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단계 시작 전 응답 JSON·스키마를 문서로 먼저 합의, 계약 검사 통과 후 PR 머지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6200" y="470916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결과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10400" y="4709160"/>
            <a:ext cx="4238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빈 껍데기 함수 위에서 4명이 기다림 없이 병렬 개발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· NEXT · 앞으로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다음에 더할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5241"/>
            <a:ext cx="3420467" cy="1882180"/>
          </a:xfrm>
          <a:prstGeom prst="roundRect">
            <a:avLst>
              <a:gd name="adj" fmla="val 9446"/>
            </a:avLst>
          </a:prstGeom>
          <a:solidFill>
            <a:srgbClr val="1034B3"/>
          </a:solidFill>
          <a:ln/>
        </p:spPr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153841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2484041"/>
            <a:ext cx="29998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유명 투자자 포트폴리오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6800" y="2788841"/>
            <a:ext cx="299984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13F 공시로 유명 투자자의 보유 종목을 가져와 비교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5667" y="1925241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1034B3"/>
          </a:solidFill>
          <a:ln/>
        </p:spPr>
      </p:sp>
      <p:pic>
        <p:nvPicPr>
          <p:cNvPr id="9" name="Image 1" descr="Lightbulb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9667" y="2153841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9667" y="248404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투자자 모델링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39667" y="2788841"/>
            <a:ext cx="29999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투자 분석으로 투자 방식을 모델링 — “그 투자자라면 샀을까?”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58634" y="1925241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DCE4FA"/>
          </a:solidFill>
          <a:ln/>
        </p:spPr>
      </p:sp>
      <p:pic>
        <p:nvPicPr>
          <p:cNvPr id="13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2634" y="2153841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2634" y="248404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분석 보고서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12634" y="278884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편집된 데이터를 읽기 쉬운 문장 보고서로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2800" y="3959820"/>
            <a:ext cx="3420467" cy="1882180"/>
          </a:xfrm>
          <a:prstGeom prst="roundRect">
            <a:avLst>
              <a:gd name="adj" fmla="val 9446"/>
            </a:avLst>
          </a:prstGeom>
          <a:solidFill>
            <a:srgbClr val="FFFFFF"/>
          </a:solidFill>
          <a:ln/>
        </p:spPr>
      </p:sp>
      <p:pic>
        <p:nvPicPr>
          <p:cNvPr id="17" name="Image 3" descr="Ke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66800" y="4188420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6800" y="4518620"/>
            <a:ext cx="29998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66800" y="4823420"/>
            <a:ext cx="31664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내 관심종목·포트폴리오를 어느 기기에서나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85667" y="3959820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FFFFFF"/>
          </a:solidFill>
          <a:ln/>
        </p:spPr>
      </p:sp>
      <p:pic>
        <p:nvPicPr>
          <p:cNvPr id="21" name="Image 4" descr="Lightni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9667" y="4188420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9667" y="4518620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장중 시세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39667" y="4823420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일봉을 넘어 실시간에 가까운 가격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58634" y="3959820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FFFFFF"/>
          </a:solidFill>
          <a:ln/>
        </p:spPr>
      </p:sp>
      <p:pic>
        <p:nvPicPr>
          <p:cNvPr id="25" name="Image 5" descr="Char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12634" y="4188420"/>
            <a:ext cx="254000" cy="254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12634" y="4518620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매매 일지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12634" y="4823420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내 투자 기록과 통계를 한곳에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4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63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5200" y="863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016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65200" y="1016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93800" y="812800"/>
            <a:ext cx="16337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</a:t>
            </a:r>
            <a:endParaRPr lang="en-US" sz="2000" dirty="0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2724249"/>
            <a:ext cx="10883392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12800" y="357763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질의응답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800" y="54889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 C · 최석훈 · 류한솔 · 이태경 · 하재현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stockmind-538269380647.asia-northeast3.run.app · github.com/Hunseokc/ax_stockmind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Mind 최종 발표">
  <a:themeElements>
    <a:clrScheme name="StockMind 최종 발표">
      <a:dk1>
        <a:srgbClr val="0D1633"/>
      </a:dk1>
      <a:lt1>
        <a:srgbClr val="E9EBEA"/>
      </a:lt1>
      <a:dk2>
        <a:srgbClr val="444B61"/>
      </a:dk2>
      <a:lt2>
        <a:srgbClr val="D3D6D8"/>
      </a:lt2>
      <a:accent1>
        <a:srgbClr val="1034B3"/>
      </a:accent1>
      <a:accent2>
        <a:srgbClr val="C3D1F6"/>
      </a:accent2>
      <a:accent3>
        <a:srgbClr val="3B4565"/>
      </a:accent3>
      <a:accent4>
        <a:srgbClr val="5B6377"/>
      </a:accent4>
      <a:accent5>
        <a:srgbClr val="434B60"/>
      </a:accent5>
      <a:accent6>
        <a:srgbClr val="9AA0A6"/>
      </a:accent6>
      <a:hlink>
        <a:srgbClr val="0563C1"/>
      </a:hlink>
      <a:folHlink>
        <a:srgbClr val="954F72"/>
      </a:folHlink>
    </a:clrScheme>
    <a:fontScheme name="StockMind 최종 발표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2280</Words>
  <Application>Microsoft Office PowerPoint</Application>
  <PresentationFormat>와이드스크린</PresentationFormat>
  <Paragraphs>338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JetBrains Mono</vt:lpstr>
      <vt:lpstr>Plus Jakarta Sans</vt:lpstr>
      <vt:lpstr>Arial</vt:lpstr>
      <vt:lpstr>StockMind 최종 발표</vt:lpstr>
      <vt:lpstr>정보의 홍수에서, 필요한 것만.</vt:lpstr>
      <vt:lpstr>흩어진 주식 데이터를, 한 화면 같은 기준으로</vt:lpstr>
      <vt:lpstr>정보는 넘치는데, 읽는 법은 따로 공부해야 한다</vt:lpstr>
      <vt:lpstr>더 많은 데이터가 아니라, 잘 편집된 데이터</vt:lpstr>
      <vt:lpstr>오늘 주식 시장을 순위로 한 눈에</vt:lpstr>
      <vt:lpstr>지표 9개를 점수 하나. 문장 하나.</vt:lpstr>
      <vt:lpstr>5개 화면, 기능별 구현 현황</vt:lpstr>
      <vt:lpstr>모으는 길과 보여 주는 길을 나눴다</vt:lpstr>
      <vt:lpstr>‘담기’ 버튼 하나가 지나가는 길</vt:lpstr>
      <vt:lpstr>종목을 가운데 두고, 사용자 데이터는 따로</vt:lpstr>
      <vt:lpstr>매력도 점수는 SQL 네 단계로 계산한다</vt:lpstr>
      <vt:lpstr>시나리오: 투자 입문자의 첫 사용</vt:lpstr>
      <vt:lpstr>개발 중 만난 문제 두 가지</vt:lpstr>
      <vt:lpstr>다음에 더할 기능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StockMind 최종 발표</dc:title>
  <dc:subject/>
  <dc:creator/>
  <cp:lastModifiedBy>kjca010</cp:lastModifiedBy>
  <cp:revision>4</cp:revision>
  <dcterms:created xsi:type="dcterms:W3CDTF">2026-10-20T00:48:02Z</dcterms:created>
  <dcterms:modified xsi:type="dcterms:W3CDTF">2026-10-20T01:02:44Z</dcterms:modified>
</cp:coreProperties>
</file>