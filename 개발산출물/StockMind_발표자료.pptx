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6" r:id="rId4"/>
    <p:sldId id="271" r:id="rId5"/>
    <p:sldId id="259" r:id="rId6"/>
    <p:sldId id="260" r:id="rId7"/>
    <p:sldId id="273" r:id="rId8"/>
    <p:sldId id="261" r:id="rId9"/>
    <p:sldId id="274" r:id="rId10"/>
    <p:sldId id="275" r:id="rId11"/>
    <p:sldId id="262" r:id="rId12"/>
    <p:sldId id="272" r:id="rId13"/>
    <p:sldId id="263" r:id="rId14"/>
    <p:sldId id="265" r:id="rId15"/>
    <p:sldId id="267" r:id="rId16"/>
    <p:sldId id="268" r:id="rId17"/>
    <p:sldId id="269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20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한 문장 소개: StockMind는 흩어진 주식 데이터 중 필요한 정보만 골라 보기 좋게 편집해 보여 주는 대시보드입니다. 오른쪽은 실제 홈 화면(라이트 모드).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프로젝트를 한 문장으로: 국내·미국 주식의 시세·재무·공시를 한 DB에 모아 같은 기준(원화 환산·일봉)으로 비교하는 대시보드. 팀원별로 담당 파트를 한 줄씩 소개하고, 각자 담당 기능은 뒤에서 직접 설명한다고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프로젝트의 핵심. 에디토리얼 띵킹에서 빌려온 사고방식: 좋은 편집은 정보를 더하는 게 아니라 고르고 줄이고 배치하는 것. StockMind의 모든 화면은 이 네 가지 원칙으로 설계했다. 다음 두 장에서 실제 화면으로 보여 드림.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프로젝트의 핵심. 에디토리얼 띵킹에서 빌려온 사고방식: 좋은 편집은 정보를 더하는 게 아니라 고르고 줄이고 배치하는 것. StockMind의 모든 화면은 이 네 가지 원칙으로 설계했다. 다음 두 장에서 실제 화면으로 보여 드림.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 = 신문 1면. 사용자가 홈에 들어오면 숫자 카드보다 먼저 "코스피·코스닥 동반 상승, 원화 강세" 같은 한 줄 요약을 읽게 된다. 섹터 히트맵과 심리 지수로 시장 분위기를 색과 숫자 하나로 보여 준다. 하단은 146개 종목을 다 보여 주지 않고 오늘 주목할 5개만 고른다.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EC10C-D12A-FC7D-3F93-E865490D9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15A60-6BB2-774B-9EF3-48754FF80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D85C8-2B63-08C7-88C7-BD469E1C5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 = 신문 1면. 사용자가 홈에 들어오면 숫자 카드보다 먼저 "코스피·코스닥 동반 상승, 원화 강세" 같은 한 줄 요약을 읽게 된다. 섹터 히트맵과 심리 지수로 시장 분위기를 색과 숫자 하나로 보여 준다. 하단은 146개 종목을 다 보여 주지 않고 오늘 주목할 5개만 고른다.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DB14C-DC68-008C-BBBE-2D14CF597D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42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가격 흐름: 1M/3M/6M/1Y 종가 차트와 거래량. 일봉 기준일 표기. ★와 포트폴리오에 담기 버튼은 시연에서 사용. 다음 장: 투자 매력도.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EC68-2AB0-7C72-2C49-02A6CF9B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8C18A-C6A2-AC38-06F9-E9F2CD491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F6122-76DE-A082-4672-2ED245475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순서: ① 점수·순위·투자 성향 → ② 시장·섹터 점수 → ③ 레이더 → ④ 날씨 → ⑤ 계산 근거 보기. 9개 지표 → 5개 질문 → 0~100점. 삼성전자 성향별 점수(가치 59 / 위험 93)는 발표 직전 실제 화면에서 확인.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3A9B3-BCD4-C050-7ED6-689C070DEC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73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424B-AA82-3978-0026-89705366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43002-049B-1419-CA9C-BFD0BDD00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3E318-31FC-00C0-C4BE-075245FB2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순서: ① 핵심 정보(경쟁 평균 대비) → ② 한눈에 보는 투자 지표(쉬운 문장) → ③ 재무 추이. 이 아래에는 경쟁 종목 비교와 최근 공시(원문 링크). 결론 문장은 투자 권유가 아님.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0B8E7-6282-EF03-5A73-A034DC0D35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69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요구사항 정리. 조회 중심 화면 3개와, 등록·조회·수정·삭제가 모두 일어나는 사용자 기능 2개(관심종목, 모의 포트폴리오). 시연에서 이 두 기능으로 CRUD 전체를 보여 줄 예정. 로그인과 장중 시세는 1차 범위 밖이라 2차로.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요구사항 정리. 조회 중심 화면 3개와, 등록·조회·수정·삭제가 모두 일어나는 사용자 기능 2개(관심종목, 모의 포트폴리오). 시연에서 이 두 기능으로 CRUD 전체를 보여 줄 예정. 로그인과 장중 시세는 1차 범위 밖이라 2차로.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절반은 데이터를 모으는 길: 4개 소스에서 받아 전처리하고 이상한 행(고가&lt;저가, 음수 거래량)은 따로 격리한 뒤 DB에 넣는다. 오른쪽 절반은 보여 주는 길: 화면이 API를 부르면 FastAPI는 DB만 읽어서 JSON으로 돌려준다. 두 길을 나눈 덕분에 외부 API 상태와 관계없이 화면이 빠르다. 기술 스택은 마지막 줄 참고.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데이터는 stocks(종목)를 중심으로 붙는다. 시세·재무·공시는 한 종목에 여러 행이 붙는 1:N, 경쟁 그룹은 한 종목이 여러 그룹에 들어갈 수 있어 연결 테이블로 N:M. 사용자 쪽(파란 박스)은 users 아래로 분리해 관심종목과 포트폴리오를 둔다. 대부분 정규화했지만, portfolio_items에는 담은 날의 가격·환율을 일부러 복사했다. 시세가 나중에 바뀌어도 손익을 계산하려면 그때 값이 필요하기 때문.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실제 서비스로 넘어가 시연 (10분). 1~2는 조회, 3~6(채워진 원)은 등록 → 조회 → 수정 → 삭제 CRUD 흐름. 시연 중 개발자 도구 Network 탭을 열어 API 요청·응답 JSON을 보여 주면 프론트-백엔드-DB 연동 확인이 쉬움. 시드 초과 409 에러도 일부러 한 번 보여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왼쪽: 오류 메시지도 없이 빈 결과만 와서 발견이 늦어질 수 있는 유형. 로그인 유무로 응답을 비교하는 smoke test로 원인을 좁혔다. 이후 Cloud Run 배포 환경에서 로그인이 간헐적으로 실패해서, 국내 데이터 조회를 그대로 대신할 수 있는 KIS를 옵션으로 추가했다. 오른쪽: 팀 협업 문제. Stage 2에서 서로 다른 스키마를 가정해 통합 때 보정이 필요했고, 이후 단계마다 인터페이스를 먼저 문서로 정하고(contracts) 검사 스크립트를 통과해야 머지하도록 바꿨다.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회고는 짧게 말로: 새로 배운 것(DB 설계, API, Git PR 협업). 이후 기능 소개, 특히 파란 카드 두 개. 미국 기관 투자자가 분기마다 내는 13F 공시로 유명 투자자의 보유 종목을 가져오고, 그 투자 방식을 분석해 모델로 만들면 "그 투자자라면 이 상황에 샀을까?"를 보여 줄 수 있다. 분석 결과를 이미 JSON으로 정리해 두었기 때문에 AI 보고서로도 자연스럽게 확장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질문은 담당자가 직접 답변. 데이터 흐름, 설계 이유, 오류 해결 질문이 예상됨. 필요하면 특정 기능 추가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25241"/>
            <a:ext cx="10566400" cy="411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25241"/>
            <a:ext cx="10566400" cy="411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911975" y="815975"/>
            <a:ext cx="4464050" cy="5226050"/>
          </a:xfrm>
          <a:prstGeom prst="roundRect">
            <a:avLst>
              <a:gd name="adj" fmla="val 3912"/>
            </a:avLst>
          </a:prstGeom>
          <a:noFill/>
          <a:ln w="6350">
            <a:solidFill>
              <a:srgbClr val="D2D7D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12800" y="10668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/>
        </p:spPr>
      </p:sp>
      <p:sp>
        <p:nvSpPr>
          <p:cNvPr id="5" name="Shape 2"/>
          <p:cNvSpPr/>
          <p:nvPr/>
        </p:nvSpPr>
        <p:spPr>
          <a:xfrm>
            <a:off x="965200" y="10668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/>
        </p:spPr>
      </p:sp>
      <p:sp>
        <p:nvSpPr>
          <p:cNvPr id="6" name="Shape 3"/>
          <p:cNvSpPr/>
          <p:nvPr/>
        </p:nvSpPr>
        <p:spPr>
          <a:xfrm>
            <a:off x="812800" y="12192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/>
        </p:spPr>
      </p:sp>
      <p:sp>
        <p:nvSpPr>
          <p:cNvPr id="7" name="Shape 4"/>
          <p:cNvSpPr/>
          <p:nvPr/>
        </p:nvSpPr>
        <p:spPr>
          <a:xfrm>
            <a:off x="965200" y="12192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/>
        </p:spPr>
      </p:sp>
      <p:sp>
        <p:nvSpPr>
          <p:cNvPr id="8" name="Text 5"/>
          <p:cNvSpPr/>
          <p:nvPr/>
        </p:nvSpPr>
        <p:spPr>
          <a:xfrm>
            <a:off x="1193800" y="1016000"/>
            <a:ext cx="15994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kern="0" spc="-25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</a:t>
            </a:r>
            <a:endParaRPr lang="en-US" sz="2000" dirty="0"/>
          </a:p>
        </p:txBody>
      </p:sp>
      <p:sp>
        <p:nvSpPr>
          <p:cNvPr id="9" name="Text 6"/>
          <p:cNvSpPr>
            <a:spLocks noGrp="1"/>
          </p:cNvSpPr>
          <p:nvPr>
            <p:ph type="title"/>
          </p:nvPr>
        </p:nvSpPr>
        <p:spPr>
          <a:xfrm>
            <a:off x="753327" y="2207109"/>
            <a:ext cx="5755640" cy="1427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altLang="ko-KR" sz="4800" b="1" dirty="0" err="1">
                <a:solidFill>
                  <a:srgbClr val="434B60"/>
                </a:solidFill>
              </a:rPr>
              <a:t>국내·미국</a:t>
            </a:r>
            <a:r>
              <a:rPr lang="en-US" altLang="ko-KR" sz="4800" b="1" dirty="0">
                <a:solidFill>
                  <a:srgbClr val="434B60"/>
                </a:solidFill>
              </a:rPr>
              <a:t> </a:t>
            </a:r>
            <a:r>
              <a:rPr lang="en-US" altLang="ko-KR" sz="4800" b="1" dirty="0" err="1">
                <a:solidFill>
                  <a:srgbClr val="434B60"/>
                </a:solidFill>
              </a:rPr>
              <a:t>주식</a:t>
            </a:r>
            <a:r>
              <a:rPr lang="en-US" altLang="ko-KR" sz="4800" b="1" dirty="0">
                <a:solidFill>
                  <a:srgbClr val="434B60"/>
                </a:solidFill>
              </a:rPr>
              <a:t> </a:t>
            </a:r>
            <a:r>
              <a:rPr lang="en-US" altLang="ko-KR" sz="4800" b="1" dirty="0" err="1">
                <a:solidFill>
                  <a:srgbClr val="434B60"/>
                </a:solidFill>
              </a:rPr>
              <a:t>분석</a:t>
            </a:r>
            <a:r>
              <a:rPr lang="en-US" altLang="ko-KR" sz="4800" b="1" dirty="0">
                <a:solidFill>
                  <a:srgbClr val="434B60"/>
                </a:solidFill>
              </a:rPr>
              <a:t> </a:t>
            </a:r>
            <a:r>
              <a:rPr lang="en-US" altLang="ko-KR" sz="4800" b="1" dirty="0" err="1">
                <a:solidFill>
                  <a:schemeClr val="accent1"/>
                </a:solidFill>
              </a:rPr>
              <a:t>대시보드</a:t>
            </a:r>
            <a:br>
              <a:rPr lang="en-US" altLang="ko-KR" sz="4800" dirty="0"/>
            </a:b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812800" y="5488980"/>
            <a:ext cx="57556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 C · 최석훈 · 류한솔 · 이태경 · 하재현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2800" y="5831880"/>
            <a:ext cx="57556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AX 서비스 풀스택 빌더 1차 프로젝트 최종 발표 · 2026.10.21</a:t>
            </a:r>
            <a:endParaRPr lang="en-US" sz="12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CA88162-ACF8-ECE6-984F-4BBEC57DC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975" y="863599"/>
            <a:ext cx="4453027" cy="44530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 · PROJECT · 프로젝트 소개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9886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 err="1"/>
              <a:t>StockMind</a:t>
            </a:r>
            <a:r>
              <a:rPr lang="en-US" sz="3200" b="1" dirty="0"/>
              <a:t> </a:t>
            </a:r>
            <a:r>
              <a:rPr lang="ko-KR" altLang="en-US" sz="3200" b="1" dirty="0"/>
              <a:t>프로젝트 소개</a:t>
            </a:r>
            <a:endParaRPr lang="en-US" sz="3200" b="1" dirty="0"/>
          </a:p>
        </p:txBody>
      </p:sp>
      <p:sp>
        <p:nvSpPr>
          <p:cNvPr id="4" name="Shape 2"/>
          <p:cNvSpPr/>
          <p:nvPr/>
        </p:nvSpPr>
        <p:spPr>
          <a:xfrm>
            <a:off x="812801" y="1925240"/>
            <a:ext cx="2527300" cy="1003813"/>
          </a:xfrm>
          <a:prstGeom prst="roundRect">
            <a:avLst>
              <a:gd name="adj" fmla="val 17193"/>
            </a:avLst>
          </a:prstGeom>
          <a:solidFill>
            <a:srgbClr val="F6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41400" y="2103040"/>
            <a:ext cx="3052165" cy="27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개발 기간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367161"/>
            <a:ext cx="3052165" cy="3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2026.10.2 – 10.21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62352" y="1950639"/>
            <a:ext cx="2457448" cy="1003813"/>
          </a:xfrm>
          <a:prstGeom prst="roundRect">
            <a:avLst>
              <a:gd name="adj" fmla="val 17193"/>
            </a:avLst>
          </a:prstGeom>
          <a:solidFill>
            <a:srgbClr val="F6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790952" y="2128439"/>
            <a:ext cx="3052267" cy="27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 구성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90952" y="2392560"/>
            <a:ext cx="3052267" cy="3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4명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42051" y="1925240"/>
            <a:ext cx="2527300" cy="1003813"/>
          </a:xfrm>
          <a:prstGeom prst="roundRect">
            <a:avLst>
              <a:gd name="adj" fmla="val 17193"/>
            </a:avLst>
          </a:prstGeom>
          <a:solidFill>
            <a:srgbClr val="F6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70651" y="2103040"/>
            <a:ext cx="3052267" cy="27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200" dirty="0"/>
              <a:t>기술 스택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70651" y="2337424"/>
            <a:ext cx="3052267" cy="651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</a:rPr>
              <a:t>HTML</a:t>
            </a:r>
            <a:r>
              <a:rPr lang="ko-KR" altLang="ko-KR" sz="1600" dirty="0"/>
              <a:t>·</a:t>
            </a: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</a:rPr>
              <a:t>CSS</a:t>
            </a:r>
            <a:r>
              <a:rPr lang="ko-KR" altLang="ko-KR" sz="1600" dirty="0"/>
              <a:t>·</a:t>
            </a: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</a:rPr>
              <a:t>JS /</a:t>
            </a:r>
            <a:r>
              <a:rPr lang="en-US" sz="1500" b="1" dirty="0" err="1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</a:rPr>
              <a:t>FastApi</a:t>
            </a: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</a:rPr>
              <a:t>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</a:rPr>
              <a:t>PostgreSQL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" y="3116461"/>
            <a:ext cx="2527300" cy="2725539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41400" y="334506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팀원 A · 프론트엔드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1400" y="3659981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ko-KR" altLang="en-US" sz="2000" b="1" dirty="0" err="1">
                <a:solidFill>
                  <a:srgbClr val="0D1633"/>
                </a:solidFill>
                <a:latin typeface="Plus Jakarta Sans" pitchFamily="34" charset="0"/>
              </a:rPr>
              <a:t>이태경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41400" y="4066381"/>
            <a:ext cx="213220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화면 4종 · 공통 컴포넌트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API 연동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로딩·빈 상태·오류 처리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92500" y="3116461"/>
            <a:ext cx="2527300" cy="2725539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721100" y="334506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팀원 B · 백엔드 API·DB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21100" y="3659981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ko-KR" alt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하재현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21100" y="4066381"/>
            <a:ext cx="213220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FastAPI 라우터 · SQL·VIEW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관심종목 CRUD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재무·공시 수집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116461"/>
            <a:ext cx="2527300" cy="2725539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0" y="334506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팀원 C · 수집·분석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659981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ko-KR" altLang="en-US" sz="2000" b="1" dirty="0" err="1">
                <a:solidFill>
                  <a:srgbClr val="0D1633"/>
                </a:solidFill>
                <a:latin typeface="Plus Jakarta Sans" pitchFamily="34" charset="0"/>
              </a:rPr>
              <a:t>류한솔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0" y="4066381"/>
            <a:ext cx="213220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시세 수집 · 전처리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포트폴리오 계산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매력도 점수 모델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51900" y="3116461"/>
            <a:ext cx="2527300" cy="2725539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080500" y="3345061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팀원 D · 통합 (팀장)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80500" y="3659981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최석훈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080500" y="4066381"/>
            <a:ext cx="213220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전체 설계 </a:t>
            </a:r>
            <a:r>
              <a:rPr lang="en-US" altLang="ko-KR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</a:t>
            </a:r>
            <a:r>
              <a:rPr lang="ko-KR" altLang="en-US" sz="1200" dirty="0"/>
              <a:t>배포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 리뷰 · 단계별 통합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갱신 스케줄러 · Docker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2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59E541E2-D66F-DAE3-205B-4CD56D8C747B}"/>
              </a:ext>
            </a:extLst>
          </p:cNvPr>
          <p:cNvSpPr/>
          <p:nvPr/>
        </p:nvSpPr>
        <p:spPr>
          <a:xfrm>
            <a:off x="8921750" y="1903871"/>
            <a:ext cx="2527300" cy="1003813"/>
          </a:xfrm>
          <a:prstGeom prst="roundRect">
            <a:avLst>
              <a:gd name="adj" fmla="val 17193"/>
            </a:avLst>
          </a:prstGeom>
          <a:solidFill>
            <a:srgbClr val="F6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70923E3F-C8FF-2E97-29F3-E5B1AD9C1CE2}"/>
              </a:ext>
            </a:extLst>
          </p:cNvPr>
          <p:cNvSpPr/>
          <p:nvPr/>
        </p:nvSpPr>
        <p:spPr>
          <a:xfrm>
            <a:off x="9150350" y="2081672"/>
            <a:ext cx="3052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데이터 출처</a:t>
            </a:r>
            <a:endParaRPr lang="en-US" sz="12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533BAAF8-FB19-772D-1399-2A5DB440D3AE}"/>
              </a:ext>
            </a:extLst>
          </p:cNvPr>
          <p:cNvSpPr/>
          <p:nvPr/>
        </p:nvSpPr>
        <p:spPr>
          <a:xfrm>
            <a:off x="9150350" y="2316559"/>
            <a:ext cx="3052267" cy="9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altLang="ko-KR" sz="1500" b="1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KRX · </a:t>
            </a:r>
            <a:r>
              <a:rPr lang="en-US" altLang="ko-KR" sz="1500" b="1" dirty="0" err="1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yfinance</a:t>
            </a:r>
            <a:r>
              <a:rPr lang="en-US" altLang="ko-KR" sz="1500" b="1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</a:p>
          <a:p>
            <a:pPr>
              <a:lnSpc>
                <a:spcPts val="1680"/>
              </a:lnSpc>
            </a:pPr>
            <a:r>
              <a:rPr lang="en-US" altLang="ko-KR" sz="1500" b="1" dirty="0" err="1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OpenDART</a:t>
            </a:r>
            <a:r>
              <a:rPr lang="en-US" altLang="ko-KR" sz="1500" b="1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· SEC · KIS</a:t>
            </a:r>
            <a:endParaRPr lang="en-US" sz="15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812800" y="71884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6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</a:t>
            </a:r>
            <a:r>
              <a:rPr lang="en-US" altLang="ko-KR" sz="16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r>
              <a:rPr lang="ko-KR" altLang="en-US" sz="16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· PROJECT · 개발 순서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ko-KR" altLang="en-US" sz="3200" b="1" dirty="0"/>
              <a:t>여섯 단계로 나눠 만들었습니다</a:t>
            </a:r>
          </a:p>
        </p:txBody>
      </p:sp>
      <p:sp>
        <p:nvSpPr>
          <p:cNvPr id="4" name="Subtitle"/>
          <p:cNvSpPr/>
          <p:nvPr/>
        </p:nvSpPr>
        <p:spPr>
          <a:xfrm>
            <a:off x="812800" y="1720000"/>
            <a:ext cx="10883392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ko-KR" altLang="en-US" sz="1400" kern="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한 번에 다 만들지 않고, 단계마다 결과물을 확인하며 차근차근 쌓았습니다</a:t>
            </a:r>
          </a:p>
        </p:txBody>
      </p:sp>
      <p:sp>
        <p:nvSpPr>
          <p:cNvPr id="5" name="Card 1"/>
          <p:cNvSpPr/>
          <p:nvPr/>
        </p:nvSpPr>
        <p:spPr>
          <a:xfrm>
            <a:off x="812800" y="2150000"/>
            <a:ext cx="3420467" cy="1880000"/>
          </a:xfrm>
          <a:prstGeom prst="roundRect">
            <a:avLst>
              <a:gd name="adj" fmla="val 17193"/>
            </a:avLst>
          </a:prstGeom>
          <a:solidFill>
            <a:srgbClr val="FFFFFF"/>
          </a:solidFill>
          <a:ln/>
        </p:spPr>
      </p:sp>
      <p:sp>
        <p:nvSpPr>
          <p:cNvPr id="6" name="Stage label 1"/>
          <p:cNvSpPr/>
          <p:nvPr/>
        </p:nvSpPr>
        <p:spPr>
          <a:xfrm>
            <a:off x="1041400" y="2350000"/>
            <a:ext cx="2963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STAGE 1</a:t>
            </a:r>
          </a:p>
        </p:txBody>
      </p:sp>
      <p:sp>
        <p:nvSpPr>
          <p:cNvPr id="7" name="Stage name 1"/>
          <p:cNvSpPr/>
          <p:nvPr/>
        </p:nvSpPr>
        <p:spPr>
          <a:xfrm>
            <a:off x="1041400" y="2630000"/>
            <a:ext cx="2963267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ko-KR" altLang="en-US" sz="2000" b="1" kern="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첫 화면 만들기</a:t>
            </a:r>
          </a:p>
        </p:txBody>
      </p:sp>
      <p:sp>
        <p:nvSpPr>
          <p:cNvPr id="8" name="Stage desc 1"/>
          <p:cNvSpPr/>
          <p:nvPr/>
        </p:nvSpPr>
        <p:spPr>
          <a:xfrm>
            <a:off x="1041400" y="3080000"/>
            <a:ext cx="2963267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지수·환율을 보는 홈 화면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주식 리스트와 종목 상세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시세 데이터 수집</a:t>
            </a:r>
          </a:p>
        </p:txBody>
      </p:sp>
      <p:sp>
        <p:nvSpPr>
          <p:cNvPr id="9" name="Card 2"/>
          <p:cNvSpPr/>
          <p:nvPr/>
        </p:nvSpPr>
        <p:spPr>
          <a:xfrm>
            <a:off x="4385667" y="2150000"/>
            <a:ext cx="3420467" cy="1880000"/>
          </a:xfrm>
          <a:prstGeom prst="roundRect">
            <a:avLst>
              <a:gd name="adj" fmla="val 17193"/>
            </a:avLst>
          </a:prstGeom>
          <a:solidFill>
            <a:srgbClr val="FFFFFF"/>
          </a:solidFill>
          <a:ln/>
        </p:spPr>
      </p:sp>
      <p:sp>
        <p:nvSpPr>
          <p:cNvPr id="10" name="Stage label 2"/>
          <p:cNvSpPr/>
          <p:nvPr/>
        </p:nvSpPr>
        <p:spPr>
          <a:xfrm>
            <a:off x="4614267" y="2350000"/>
            <a:ext cx="2963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STAGE 2</a:t>
            </a:r>
          </a:p>
        </p:txBody>
      </p:sp>
      <p:sp>
        <p:nvSpPr>
          <p:cNvPr id="11" name="Stage name 2"/>
          <p:cNvSpPr/>
          <p:nvPr/>
        </p:nvSpPr>
        <p:spPr>
          <a:xfrm>
            <a:off x="4614267" y="2630000"/>
            <a:ext cx="2963267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ko-KR" altLang="en-US" sz="2000" b="1" kern="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내 주식 기능</a:t>
            </a:r>
          </a:p>
        </p:txBody>
      </p:sp>
      <p:sp>
        <p:nvSpPr>
          <p:cNvPr id="12" name="Stage desc 2"/>
          <p:cNvSpPr/>
          <p:nvPr/>
        </p:nvSpPr>
        <p:spPr>
          <a:xfrm>
            <a:off x="4614267" y="3080000"/>
            <a:ext cx="2963267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관심종목 담기·수정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모의 포트폴리오 만들기</a:t>
            </a:r>
          </a:p>
        </p:txBody>
      </p:sp>
      <p:sp>
        <p:nvSpPr>
          <p:cNvPr id="13" name="Card 3"/>
          <p:cNvSpPr/>
          <p:nvPr/>
        </p:nvSpPr>
        <p:spPr>
          <a:xfrm>
            <a:off x="7958534" y="2150000"/>
            <a:ext cx="3420467" cy="1880000"/>
          </a:xfrm>
          <a:prstGeom prst="roundRect">
            <a:avLst>
              <a:gd name="adj" fmla="val 17193"/>
            </a:avLst>
          </a:prstGeom>
          <a:solidFill>
            <a:srgbClr val="FFFFFF"/>
          </a:solidFill>
          <a:ln/>
        </p:spPr>
      </p:sp>
      <p:sp>
        <p:nvSpPr>
          <p:cNvPr id="14" name="Stage label 3"/>
          <p:cNvSpPr/>
          <p:nvPr/>
        </p:nvSpPr>
        <p:spPr>
          <a:xfrm>
            <a:off x="8187134" y="2350000"/>
            <a:ext cx="2963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STAGE 3</a:t>
            </a:r>
          </a:p>
        </p:txBody>
      </p:sp>
      <p:sp>
        <p:nvSpPr>
          <p:cNvPr id="15" name="Stage name 3"/>
          <p:cNvSpPr/>
          <p:nvPr/>
        </p:nvSpPr>
        <p:spPr>
          <a:xfrm>
            <a:off x="8187134" y="2630000"/>
            <a:ext cx="2963267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ko-KR" altLang="en-US" sz="2000" b="1" kern="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진짜 데이터 연결</a:t>
            </a:r>
          </a:p>
        </p:txBody>
      </p:sp>
      <p:sp>
        <p:nvSpPr>
          <p:cNvPr id="16" name="Stage desc 3"/>
          <p:cNvSpPr/>
          <p:nvPr/>
        </p:nvSpPr>
        <p:spPr>
          <a:xfrm>
            <a:off x="8187134" y="3080000"/>
            <a:ext cx="2963267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시세·재무·공시 수집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데이터 출처 4곳 연결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스케줄링 갱신</a:t>
            </a:r>
          </a:p>
        </p:txBody>
      </p:sp>
      <p:sp>
        <p:nvSpPr>
          <p:cNvPr id="17" name="Card 4"/>
          <p:cNvSpPr/>
          <p:nvPr/>
        </p:nvSpPr>
        <p:spPr>
          <a:xfrm>
            <a:off x="812800" y="4182400"/>
            <a:ext cx="3420467" cy="1880000"/>
          </a:xfrm>
          <a:prstGeom prst="roundRect">
            <a:avLst>
              <a:gd name="adj" fmla="val 17193"/>
            </a:avLst>
          </a:prstGeom>
          <a:solidFill>
            <a:srgbClr val="DCE4FA"/>
          </a:solidFill>
          <a:ln/>
        </p:spPr>
      </p:sp>
      <p:sp>
        <p:nvSpPr>
          <p:cNvPr id="18" name="Stage label 4"/>
          <p:cNvSpPr/>
          <p:nvPr/>
        </p:nvSpPr>
        <p:spPr>
          <a:xfrm>
            <a:off x="1041400" y="4382400"/>
            <a:ext cx="2963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STAGE 4</a:t>
            </a:r>
          </a:p>
        </p:txBody>
      </p:sp>
      <p:sp>
        <p:nvSpPr>
          <p:cNvPr id="19" name="Stage name 4"/>
          <p:cNvSpPr/>
          <p:nvPr/>
        </p:nvSpPr>
        <p:spPr>
          <a:xfrm>
            <a:off x="1041400" y="4662400"/>
            <a:ext cx="2963267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ko-KR" altLang="en-US" sz="2000" b="1" kern="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분석 기능</a:t>
            </a:r>
          </a:p>
        </p:txBody>
      </p:sp>
      <p:sp>
        <p:nvSpPr>
          <p:cNvPr id="20" name="Stage desc 4"/>
          <p:cNvSpPr/>
          <p:nvPr/>
        </p:nvSpPr>
        <p:spPr>
          <a:xfrm>
            <a:off x="1041400" y="5112400"/>
            <a:ext cx="2963267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투자 매력도 점수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경쟁 종목 비교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시장 통계</a:t>
            </a:r>
          </a:p>
        </p:txBody>
      </p:sp>
      <p:sp>
        <p:nvSpPr>
          <p:cNvPr id="21" name="Card 5"/>
          <p:cNvSpPr/>
          <p:nvPr/>
        </p:nvSpPr>
        <p:spPr>
          <a:xfrm>
            <a:off x="4385667" y="4182400"/>
            <a:ext cx="3420467" cy="1880000"/>
          </a:xfrm>
          <a:prstGeom prst="roundRect">
            <a:avLst>
              <a:gd name="adj" fmla="val 17193"/>
            </a:avLst>
          </a:prstGeom>
          <a:solidFill>
            <a:srgbClr val="FFFFFF"/>
          </a:solidFill>
          <a:ln/>
        </p:spPr>
      </p:sp>
      <p:sp>
        <p:nvSpPr>
          <p:cNvPr id="22" name="Stage label 5"/>
          <p:cNvSpPr/>
          <p:nvPr/>
        </p:nvSpPr>
        <p:spPr>
          <a:xfrm>
            <a:off x="4614267" y="4382400"/>
            <a:ext cx="2963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STAGE 5</a:t>
            </a:r>
          </a:p>
        </p:txBody>
      </p:sp>
      <p:sp>
        <p:nvSpPr>
          <p:cNvPr id="23" name="Stage name 5"/>
          <p:cNvSpPr/>
          <p:nvPr/>
        </p:nvSpPr>
        <p:spPr>
          <a:xfrm>
            <a:off x="4614267" y="4662400"/>
            <a:ext cx="2963267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ko-KR" altLang="en-US" sz="2000" b="1" kern="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기능 다듬기</a:t>
            </a:r>
          </a:p>
        </p:txBody>
      </p:sp>
      <p:sp>
        <p:nvSpPr>
          <p:cNvPr id="24" name="Stage desc 5"/>
          <p:cNvSpPr/>
          <p:nvPr/>
        </p:nvSpPr>
        <p:spPr>
          <a:xfrm>
            <a:off x="4614267" y="5112400"/>
            <a:ext cx="2963267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관심종목 메모·목표가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통계 화면 확장</a:t>
            </a:r>
          </a:p>
        </p:txBody>
      </p:sp>
      <p:sp>
        <p:nvSpPr>
          <p:cNvPr id="25" name="Card 6"/>
          <p:cNvSpPr/>
          <p:nvPr/>
        </p:nvSpPr>
        <p:spPr>
          <a:xfrm>
            <a:off x="7958534" y="4182400"/>
            <a:ext cx="3420467" cy="1880000"/>
          </a:xfrm>
          <a:prstGeom prst="roundRect">
            <a:avLst>
              <a:gd name="adj" fmla="val 17193"/>
            </a:avLst>
          </a:prstGeom>
          <a:solidFill>
            <a:srgbClr val="FFFFFF"/>
          </a:solidFill>
          <a:ln/>
        </p:spPr>
      </p:sp>
      <p:sp>
        <p:nvSpPr>
          <p:cNvPr id="26" name="Stage label 6"/>
          <p:cNvSpPr/>
          <p:nvPr/>
        </p:nvSpPr>
        <p:spPr>
          <a:xfrm>
            <a:off x="8187134" y="4382400"/>
            <a:ext cx="2963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2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STAGE 6</a:t>
            </a:r>
          </a:p>
        </p:txBody>
      </p:sp>
      <p:sp>
        <p:nvSpPr>
          <p:cNvPr id="27" name="Stage name 6"/>
          <p:cNvSpPr/>
          <p:nvPr/>
        </p:nvSpPr>
        <p:spPr>
          <a:xfrm>
            <a:off x="8187133" y="4686760"/>
            <a:ext cx="2963267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ko-KR" altLang="en-US" sz="2000" b="1" kern="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마무리</a:t>
            </a:r>
          </a:p>
        </p:txBody>
      </p:sp>
      <p:sp>
        <p:nvSpPr>
          <p:cNvPr id="28" name="Stage desc 6"/>
          <p:cNvSpPr/>
          <p:nvPr/>
        </p:nvSpPr>
        <p:spPr>
          <a:xfrm>
            <a:off x="8187134" y="5112400"/>
            <a:ext cx="2963267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홈 대시보드 개편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상단 종목 검색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ko-KR" altLang="en-US" sz="1400" kern="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최종 문서 정리</a:t>
            </a:r>
          </a:p>
        </p:txBody>
      </p:sp>
      <p:sp>
        <p:nvSpPr>
          <p:cNvPr id="29" name="Footer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200" kern="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</a:p>
        </p:txBody>
      </p:sp>
      <p:sp>
        <p:nvSpPr>
          <p:cNvPr id="30" name="쪽번호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IDEA · EDITORIAL THINKING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20"/>
            <a:ext cx="10883392" cy="1427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sz="4800" b="1" i="0" kern="0" spc="-1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더 많은 데이터가 아니라,</a:t>
            </a:r>
            <a:endParaRPr lang="en-US" sz="4800" dirty="0"/>
          </a:p>
          <a:p>
            <a:pPr marL="0" indent="0" algn="l">
              <a:lnSpc>
                <a:spcPts val="5520"/>
              </a:lnSpc>
              <a:buNone/>
            </a:pPr>
            <a:r>
              <a:rPr lang="en-US" sz="4800" b="1" i="0" kern="0" spc="-1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잘 편집된 데이터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834481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신문 편집자가 1면을 고르듯, 무엇을 보여 주고 무엇을 뺄지 먼저 정했습니다</a:t>
            </a:r>
            <a:endParaRPr lang="en-US" sz="15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A140164F-9CA6-8AB6-EB71-C73A07859EF6}"/>
              </a:ext>
            </a:extLst>
          </p:cNvPr>
          <p:cNvSpPr/>
          <p:nvPr/>
        </p:nvSpPr>
        <p:spPr>
          <a:xfrm>
            <a:off x="690311" y="5670016"/>
            <a:ext cx="5859172" cy="571500"/>
          </a:xfrm>
          <a:prstGeom prst="roundRect">
            <a:avLst>
              <a:gd name="adj" fmla="val 50000"/>
            </a:avLst>
          </a:prstGeom>
          <a:solidFill>
            <a:srgbClr val="DCE4F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0" descr="Users">
            <a:extLst>
              <a:ext uri="{FF2B5EF4-FFF2-40B4-BE49-F238E27FC236}">
                <a16:creationId xmlns:a16="http://schemas.microsoft.com/office/drawing/2014/main" id="{91FD22A2-02D7-E8F6-91BA-59F28A24ED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4311" y="5828766"/>
            <a:ext cx="254000" cy="254000"/>
          </a:xfrm>
          <a:prstGeom prst="rect">
            <a:avLst/>
          </a:prstGeom>
        </p:spPr>
      </p:pic>
      <p:sp>
        <p:nvSpPr>
          <p:cNvPr id="26" name="Text 15">
            <a:extLst>
              <a:ext uri="{FF2B5EF4-FFF2-40B4-BE49-F238E27FC236}">
                <a16:creationId xmlns:a16="http://schemas.microsoft.com/office/drawing/2014/main" id="{7B66ABA9-EE0E-DBC0-78D1-9F86BDEB186F}"/>
              </a:ext>
            </a:extLst>
          </p:cNvPr>
          <p:cNvSpPr/>
          <p:nvPr/>
        </p:nvSpPr>
        <p:spPr>
          <a:xfrm>
            <a:off x="1325311" y="5822416"/>
            <a:ext cx="574024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주요 사용자</a:t>
            </a:r>
            <a:r>
              <a:rPr lang="en-US" sz="15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· 국내·미국 주식을 함께 보는 개인 투자 </a:t>
            </a: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입문자</a:t>
            </a:r>
            <a:endParaRPr lang="en-US" sz="1500" b="1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0626A827-E67E-867C-06F6-AEF8CF9DC8B1}"/>
              </a:ext>
            </a:extLst>
          </p:cNvPr>
          <p:cNvSpPr/>
          <p:nvPr/>
        </p:nvSpPr>
        <p:spPr>
          <a:xfrm>
            <a:off x="798703" y="3500583"/>
            <a:ext cx="2527300" cy="1584920"/>
          </a:xfrm>
          <a:prstGeom prst="roundRect">
            <a:avLst>
              <a:gd name="adj" fmla="val 11218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B35ED624-E508-84D5-AEE6-D7CCC5A119A6}"/>
              </a:ext>
            </a:extLst>
          </p:cNvPr>
          <p:cNvSpPr/>
          <p:nvPr/>
        </p:nvSpPr>
        <p:spPr>
          <a:xfrm>
            <a:off x="1055215" y="3721748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2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BC3ADE00-D5F8-872A-7EAF-0856EF10F771}"/>
              </a:ext>
            </a:extLst>
          </p:cNvPr>
          <p:cNvSpPr/>
          <p:nvPr/>
        </p:nvSpPr>
        <p:spPr>
          <a:xfrm>
            <a:off x="1041400" y="4045755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ko-KR" altLang="en-US" sz="2000" b="1" dirty="0">
                <a:solidFill>
                  <a:srgbClr val="FFFFFF"/>
                </a:solidFill>
              </a:rPr>
              <a:t>다양한 지표</a:t>
            </a:r>
            <a:endParaRPr lang="en-US" sz="2000" b="1" dirty="0">
              <a:solidFill>
                <a:srgbClr val="FFFFFF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98A09256-D4E7-2281-A79F-6BBB587B7654}"/>
              </a:ext>
            </a:extLst>
          </p:cNvPr>
          <p:cNvSpPr/>
          <p:nvPr/>
        </p:nvSpPr>
        <p:spPr>
          <a:xfrm>
            <a:off x="3492500" y="3532413"/>
            <a:ext cx="2527300" cy="1584920"/>
          </a:xfrm>
          <a:prstGeom prst="roundRect">
            <a:avLst>
              <a:gd name="adj" fmla="val 11218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AA0952BD-3226-49C7-4923-E23B64966B16}"/>
              </a:ext>
            </a:extLst>
          </p:cNvPr>
          <p:cNvSpPr/>
          <p:nvPr/>
        </p:nvSpPr>
        <p:spPr>
          <a:xfrm>
            <a:off x="3735941" y="3703135"/>
            <a:ext cx="21322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20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81C1092C-8D40-ECA9-D80E-35100811DE85}"/>
              </a:ext>
            </a:extLst>
          </p:cNvPr>
          <p:cNvSpPr/>
          <p:nvPr/>
        </p:nvSpPr>
        <p:spPr>
          <a:xfrm>
            <a:off x="3735941" y="3992655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lus Jakarta Sans" pitchFamily="34" charset="0"/>
              </a:rPr>
              <a:t>섹터 개념</a:t>
            </a:r>
            <a:endParaRPr lang="en-US" sz="2000" dirty="0"/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2DCF02F9-A558-616C-4D9F-F354E6C7DAC9}"/>
              </a:ext>
            </a:extLst>
          </p:cNvPr>
          <p:cNvSpPr/>
          <p:nvPr/>
        </p:nvSpPr>
        <p:spPr>
          <a:xfrm>
            <a:off x="6722172" y="3963690"/>
            <a:ext cx="1077951" cy="68097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24AEE98B-8303-645A-5B42-F58DEBEC5FEA}"/>
              </a:ext>
            </a:extLst>
          </p:cNvPr>
          <p:cNvSpPr/>
          <p:nvPr/>
        </p:nvSpPr>
        <p:spPr>
          <a:xfrm>
            <a:off x="1055215" y="4489607"/>
            <a:ext cx="213220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00"/>
              </a:lnSpc>
            </a:pPr>
            <a:r>
              <a:rPr lang="en-US" altLang="ko-KR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PER? PBR? ROE?</a:t>
            </a:r>
            <a:endParaRPr lang="en-US" sz="1200" dirty="0"/>
          </a:p>
        </p:txBody>
      </p:sp>
      <p:sp>
        <p:nvSpPr>
          <p:cNvPr id="6" name="Text 18">
            <a:extLst>
              <a:ext uri="{FF2B5EF4-FFF2-40B4-BE49-F238E27FC236}">
                <a16:creationId xmlns:a16="http://schemas.microsoft.com/office/drawing/2014/main" id="{5A2E1191-08ED-1E88-D964-1C1CFDFD3972}"/>
              </a:ext>
            </a:extLst>
          </p:cNvPr>
          <p:cNvSpPr/>
          <p:nvPr/>
        </p:nvSpPr>
        <p:spPr>
          <a:xfrm>
            <a:off x="3735941" y="4407189"/>
            <a:ext cx="213220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DCE4FA"/>
                </a:solidFill>
                <a:latin typeface="Plus Jakarta Sans" pitchFamily="34" charset="0"/>
              </a:rPr>
              <a:t>같은 영업이익률 3%라도</a:t>
            </a:r>
            <a:endParaRPr lang="en-US" altLang="ko-KR" sz="1200" dirty="0">
              <a:solidFill>
                <a:srgbClr val="DCE4FA"/>
              </a:solidFill>
              <a:latin typeface="Plus Jakarta Sans" pitchFamily="34" charset="0"/>
            </a:endParaRPr>
          </a:p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DCE4FA"/>
                </a:solidFill>
                <a:latin typeface="Plus Jakarta Sans" pitchFamily="34" charset="0"/>
              </a:rPr>
              <a:t>마트는 정상, 소프트웨어는 위기</a:t>
            </a:r>
            <a:endParaRPr lang="en-US" sz="1200" dirty="0"/>
          </a:p>
        </p:txBody>
      </p:sp>
      <p:pic>
        <p:nvPicPr>
          <p:cNvPr id="8" name="Image 0" descr="StockMind 대시보드 홈 화면">
            <a:extLst>
              <a:ext uri="{FF2B5EF4-FFF2-40B4-BE49-F238E27FC236}">
                <a16:creationId xmlns:a16="http://schemas.microsoft.com/office/drawing/2014/main" id="{6E7C78C4-0D79-7B91-8EA3-BD94CA6CAF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31" b="15692"/>
          <a:stretch>
            <a:fillRect/>
          </a:stretch>
        </p:blipFill>
        <p:spPr>
          <a:xfrm>
            <a:off x="7857893" y="700192"/>
            <a:ext cx="4189485" cy="5934046"/>
          </a:xfrm>
          <a:prstGeom prst="roundRect">
            <a:avLst>
              <a:gd name="adj" fmla="val 3846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1207" y="399528"/>
            <a:ext cx="10698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034B3"/>
                </a:solidFill>
                <a:latin typeface="Plus Jakarta Sans"/>
              </a:rPr>
              <a:t>03 ·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주요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기능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구현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· 홈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대시보드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1207" y="843012"/>
            <a:ext cx="10698480" cy="4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50" b="1" i="0" dirty="0" err="1">
                <a:solidFill>
                  <a:srgbClr val="0D1633"/>
                </a:solidFill>
                <a:latin typeface="Plus Jakarta Sans"/>
              </a:rPr>
              <a:t>시장</a:t>
            </a:r>
            <a:r>
              <a:rPr sz="2950" b="1" i="0" dirty="0">
                <a:solidFill>
                  <a:srgbClr val="0D1633"/>
                </a:solidFill>
                <a:latin typeface="Plus Jakarta Sans"/>
              </a:rPr>
              <a:t> </a:t>
            </a:r>
            <a:r>
              <a:rPr sz="2950" b="1" i="0" dirty="0" err="1">
                <a:solidFill>
                  <a:srgbClr val="0D1633"/>
                </a:solidFill>
                <a:latin typeface="Plus Jakarta Sans"/>
              </a:rPr>
              <a:t>전체를</a:t>
            </a:r>
            <a:r>
              <a:rPr sz="2950" b="1" i="0" dirty="0">
                <a:solidFill>
                  <a:srgbClr val="0D1633"/>
                </a:solidFill>
                <a:latin typeface="Plus Jakarta Sans"/>
              </a:rPr>
              <a:t> </a:t>
            </a:r>
            <a:r>
              <a:rPr lang="ko-KR" altLang="en-US" sz="2950" b="1" i="0" dirty="0">
                <a:solidFill>
                  <a:srgbClr val="0D1633"/>
                </a:solidFill>
                <a:latin typeface="Plus Jakarta Sans"/>
              </a:rPr>
              <a:t>요약하는 대시보드</a:t>
            </a:r>
            <a:endParaRPr sz="2950" b="1" i="0" dirty="0">
              <a:solidFill>
                <a:srgbClr val="0D1633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639" y="1391652"/>
            <a:ext cx="106070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34B60"/>
                </a:solidFill>
                <a:latin typeface="Plus Jakarta Sans"/>
              </a:rPr>
              <a:t>지수와 환율부터 시장 분위기까지, 종목을 고르기 전에 먼저 확인합니다.</a:t>
            </a:r>
          </a:p>
        </p:txBody>
      </p:sp>
      <p:pic>
        <p:nvPicPr>
          <p:cNvPr id="6" name="Picture 5" descr="home_market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39" y="1775550"/>
            <a:ext cx="6619985" cy="4413323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516368" y="1975104"/>
            <a:ext cx="292608" cy="292608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16368" y="1986991"/>
            <a:ext cx="2926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1970532"/>
            <a:ext cx="3739896" cy="21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420" b="1" dirty="0">
                <a:solidFill>
                  <a:srgbClr val="0D1633"/>
                </a:solidFill>
              </a:rPr>
              <a:t>요약을 먼저 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2286000"/>
            <a:ext cx="3739896" cy="332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080" dirty="0">
                <a:solidFill>
                  <a:srgbClr val="434B60"/>
                </a:solidFill>
              </a:rPr>
              <a:t>지수 변화와 환율 흐름을 조합해 시장 상황을 한 문장으로 보여 주고</a:t>
            </a:r>
            <a:r>
              <a:rPr lang="en-US" altLang="ko-KR" sz="1080" dirty="0">
                <a:solidFill>
                  <a:srgbClr val="434B60"/>
                </a:solidFill>
              </a:rPr>
              <a:t>, </a:t>
            </a:r>
            <a:r>
              <a:rPr lang="ko-KR" altLang="en-US" sz="1080" dirty="0">
                <a:solidFill>
                  <a:srgbClr val="434B60"/>
                </a:solidFill>
              </a:rPr>
              <a:t>데이터 기준일도 함께 표시합니다</a:t>
            </a:r>
            <a:r>
              <a:rPr lang="en-US" altLang="ko-KR" sz="1080" dirty="0">
                <a:solidFill>
                  <a:srgbClr val="434B60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16368" y="2999232"/>
            <a:ext cx="292608" cy="292608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16368" y="3011119"/>
            <a:ext cx="2926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994660"/>
            <a:ext cx="3739896" cy="21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420" b="1" dirty="0">
                <a:solidFill>
                  <a:srgbClr val="0D1633"/>
                </a:solidFill>
              </a:rPr>
              <a:t>시장 온도를 색과 숫자로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3310127"/>
            <a:ext cx="3739896" cy="332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080" dirty="0">
                <a:solidFill>
                  <a:srgbClr val="434B60"/>
                </a:solidFill>
              </a:rPr>
              <a:t>국내</a:t>
            </a:r>
            <a:r>
              <a:rPr lang="en-US" altLang="ko-KR" sz="1080" dirty="0">
                <a:solidFill>
                  <a:srgbClr val="434B60"/>
                </a:solidFill>
              </a:rPr>
              <a:t>·</a:t>
            </a:r>
            <a:r>
              <a:rPr lang="ko-KR" altLang="en-US" sz="1080" dirty="0">
                <a:solidFill>
                  <a:srgbClr val="434B60"/>
                </a:solidFill>
              </a:rPr>
              <a:t>미국 섹터 </a:t>
            </a:r>
            <a:r>
              <a:rPr lang="ko-KR" altLang="en-US" sz="1080" dirty="0" err="1">
                <a:solidFill>
                  <a:srgbClr val="434B60"/>
                </a:solidFill>
              </a:rPr>
              <a:t>히트맵과</a:t>
            </a:r>
            <a:r>
              <a:rPr lang="ko-KR" altLang="en-US" sz="1080" dirty="0">
                <a:solidFill>
                  <a:srgbClr val="434B60"/>
                </a:solidFill>
              </a:rPr>
              <a:t> 시장 심리 지수로 상승</a:t>
            </a:r>
            <a:r>
              <a:rPr lang="en-US" altLang="ko-KR" sz="1080" dirty="0">
                <a:solidFill>
                  <a:srgbClr val="434B60"/>
                </a:solidFill>
              </a:rPr>
              <a:t>·</a:t>
            </a:r>
            <a:r>
              <a:rPr lang="ko-KR" altLang="en-US" sz="1080" dirty="0">
                <a:solidFill>
                  <a:srgbClr val="434B60"/>
                </a:solidFill>
              </a:rPr>
              <a:t>하락 분위기를 빠르게 확인하도록 배치했습니다</a:t>
            </a:r>
            <a:r>
              <a:rPr lang="en-US" altLang="ko-KR" sz="1080" dirty="0">
                <a:solidFill>
                  <a:srgbClr val="434B60"/>
                </a:solidFill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6368" y="4023360"/>
            <a:ext cx="292608" cy="292608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16368" y="4035247"/>
            <a:ext cx="2926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4018788"/>
            <a:ext cx="3739896" cy="21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420" b="1" i="0" dirty="0">
                <a:solidFill>
                  <a:srgbClr val="0D1633"/>
                </a:solidFill>
                <a:latin typeface="Plus Jakarta Sans"/>
              </a:rPr>
              <a:t>포트폴리오 위젯으로 내 투자 확인</a:t>
            </a:r>
            <a:endParaRPr sz="1420" b="1" i="0" dirty="0">
              <a:solidFill>
                <a:srgbClr val="0D1633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36992" y="4334256"/>
            <a:ext cx="3739896" cy="332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080" b="0" i="0" dirty="0">
                <a:solidFill>
                  <a:srgbClr val="434B60"/>
                </a:solidFill>
                <a:latin typeface="Plus Jakarta Sans"/>
              </a:rPr>
              <a:t>담아둔 포트폴리오를 홈에서 확인할 수 있어 내 투자 현황을</a:t>
            </a:r>
            <a:endParaRPr lang="en-US" altLang="ko-KR" sz="1080" b="0" i="0" dirty="0">
              <a:solidFill>
                <a:srgbClr val="434B60"/>
              </a:solidFill>
              <a:latin typeface="Plus Jakarta San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080" b="0" i="0" dirty="0">
                <a:solidFill>
                  <a:srgbClr val="434B60"/>
                </a:solidFill>
                <a:latin typeface="Plus Jakarta Sans"/>
              </a:rPr>
              <a:t>들어오자마자 확인할 수 있게 하였습니다</a:t>
            </a:r>
            <a:r>
              <a:rPr sz="1080" b="0" i="0" dirty="0">
                <a:solidFill>
                  <a:srgbClr val="434B60"/>
                </a:solidFill>
                <a:latin typeface="Plus Jakarta San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16368" y="5074919"/>
            <a:ext cx="4279392" cy="1113953"/>
          </a:xfrm>
          <a:prstGeom prst="roundRect">
            <a:avLst/>
          </a:prstGeom>
          <a:solidFill>
            <a:srgbClr val="DC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17536" y="5212080"/>
            <a:ext cx="38404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34B3"/>
                </a:solidFill>
                <a:latin typeface="Plus Jakarta Sans"/>
              </a:rPr>
              <a:t>이렇게 만들었습니다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5477256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 err="1">
                <a:solidFill>
                  <a:srgbClr val="434B60"/>
                </a:solidFill>
                <a:latin typeface="Plus Jakarta Sans"/>
              </a:rPr>
              <a:t>조회</a:t>
            </a:r>
            <a:r>
              <a:rPr sz="10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000" b="0" i="0" dirty="0" err="1">
                <a:solidFill>
                  <a:srgbClr val="434B60"/>
                </a:solidFill>
                <a:latin typeface="Plus Jakarta Sans"/>
              </a:rPr>
              <a:t>API에서</a:t>
            </a:r>
            <a:r>
              <a:rPr sz="10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000" b="0" i="0" dirty="0" err="1">
                <a:solidFill>
                  <a:srgbClr val="434B60"/>
                </a:solidFill>
                <a:latin typeface="Plus Jakarta Sans"/>
              </a:rPr>
              <a:t>데이터를</a:t>
            </a:r>
            <a:r>
              <a:rPr sz="10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000" b="0" i="0" dirty="0" err="1">
                <a:solidFill>
                  <a:srgbClr val="434B60"/>
                </a:solidFill>
                <a:latin typeface="Plus Jakarta Sans"/>
              </a:rPr>
              <a:t>받아</a:t>
            </a:r>
            <a:r>
              <a:rPr sz="10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000" b="0" i="0" dirty="0" err="1">
                <a:solidFill>
                  <a:srgbClr val="434B60"/>
                </a:solidFill>
                <a:latin typeface="Plus Jakarta Sans"/>
              </a:rPr>
              <a:t>위젯</a:t>
            </a:r>
            <a:r>
              <a:rPr lang="ko-KR" altLang="en-US" sz="1000" b="0" i="0" dirty="0">
                <a:solidFill>
                  <a:srgbClr val="434B60"/>
                </a:solidFill>
                <a:latin typeface="Plus Jakarta Sans"/>
              </a:rPr>
              <a:t>에서 받아오는 구조</a:t>
            </a:r>
            <a:endParaRPr lang="en-US" altLang="ko-KR" sz="1000" b="0" i="0" dirty="0">
              <a:solidFill>
                <a:srgbClr val="434B60"/>
              </a:solidFill>
              <a:latin typeface="Plus Jakarta San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000" b="0" i="0" dirty="0">
                <a:solidFill>
                  <a:srgbClr val="434B60"/>
                </a:solidFill>
                <a:latin typeface="Plus Jakarta Sans"/>
              </a:rPr>
              <a:t>공시 재무는 하루 한번</a:t>
            </a:r>
            <a:r>
              <a:rPr lang="en-US" altLang="ko-KR" sz="1000" b="0" i="0" dirty="0">
                <a:solidFill>
                  <a:srgbClr val="434B60"/>
                </a:solidFill>
                <a:latin typeface="Plus Jakarta Sans"/>
              </a:rPr>
              <a:t>, </a:t>
            </a:r>
            <a:r>
              <a:rPr lang="ko-KR" altLang="en-US" sz="1000" b="0" i="0" dirty="0">
                <a:solidFill>
                  <a:srgbClr val="434B60"/>
                </a:solidFill>
                <a:latin typeface="Plus Jakarta Sans"/>
              </a:rPr>
              <a:t>가격은 </a:t>
            </a:r>
            <a:r>
              <a:rPr lang="en-US" altLang="ko-KR" sz="1000" b="0" i="0" dirty="0">
                <a:solidFill>
                  <a:srgbClr val="434B60"/>
                </a:solidFill>
                <a:latin typeface="Plus Jakarta Sans"/>
              </a:rPr>
              <a:t>1</a:t>
            </a:r>
            <a:r>
              <a:rPr lang="ko-KR" altLang="en-US" sz="1000" b="0" i="0" dirty="0">
                <a:solidFill>
                  <a:srgbClr val="434B60"/>
                </a:solidFill>
                <a:latin typeface="Plus Jakarta Sans"/>
              </a:rPr>
              <a:t>시간 간격 갱신</a:t>
            </a:r>
            <a:r>
              <a:rPr sz="1000" b="0" i="0" dirty="0">
                <a:solidFill>
                  <a:srgbClr val="434B60"/>
                </a:solidFill>
                <a:latin typeface="Plus Jakarta Sans"/>
              </a:rPr>
              <a:t> </a:t>
            </a:r>
            <a:endParaRPr lang="en-US" sz="1000" b="0" i="0" dirty="0">
              <a:solidFill>
                <a:srgbClr val="434B60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3816" y="6340021"/>
            <a:ext cx="5230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7"/>
                </a:solidFill>
                <a:latin typeface="Plus Jakarta Sans"/>
              </a:rPr>
              <a:t>StockMind · 팀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336642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7"/>
                </a:solidFill>
                <a:latin typeface="Plus Jakarta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621" y="260937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034B3"/>
                </a:solidFill>
                <a:latin typeface="Plus Jakarta Sans"/>
              </a:rPr>
              <a:t>03 ·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주요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기능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구현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· 홈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대시보드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7621" y="643427"/>
            <a:ext cx="10698480" cy="4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50" b="1" i="0" dirty="0" err="1">
                <a:solidFill>
                  <a:srgbClr val="0D1633"/>
                </a:solidFill>
                <a:latin typeface="Plus Jakarta Sans"/>
              </a:rPr>
              <a:t>관심</a:t>
            </a:r>
            <a:r>
              <a:rPr sz="2950" b="1" i="0" dirty="0">
                <a:solidFill>
                  <a:srgbClr val="0D1633"/>
                </a:solidFill>
                <a:latin typeface="Plus Jakarta Sans"/>
              </a:rPr>
              <a:t> </a:t>
            </a:r>
            <a:r>
              <a:rPr sz="2950" b="1" i="0" dirty="0" err="1">
                <a:solidFill>
                  <a:srgbClr val="0D1633"/>
                </a:solidFill>
                <a:latin typeface="Plus Jakarta Sans"/>
              </a:rPr>
              <a:t>종목</a:t>
            </a:r>
            <a:endParaRPr sz="2950" b="1" i="0" dirty="0">
              <a:solidFill>
                <a:srgbClr val="0D1633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5053" y="1236179"/>
            <a:ext cx="10607040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 dirty="0" err="1">
                <a:solidFill>
                  <a:srgbClr val="434B60"/>
                </a:solidFill>
                <a:latin typeface="Plus Jakarta Sans"/>
              </a:rPr>
              <a:t>계속</a:t>
            </a:r>
            <a:r>
              <a:rPr sz="122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220" b="0" i="0" dirty="0" err="1">
                <a:solidFill>
                  <a:srgbClr val="434B60"/>
                </a:solidFill>
                <a:latin typeface="Plus Jakarta Sans"/>
              </a:rPr>
              <a:t>지켜볼</a:t>
            </a:r>
            <a:r>
              <a:rPr lang="en-US" sz="122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lang="ko-KR" altLang="en-US" sz="1220" b="0" i="0" dirty="0">
                <a:solidFill>
                  <a:srgbClr val="434B60"/>
                </a:solidFill>
                <a:latin typeface="Plus Jakarta Sans"/>
              </a:rPr>
              <a:t>종목들</a:t>
            </a:r>
            <a:endParaRPr sz="1220" b="0" i="0" dirty="0">
              <a:solidFill>
                <a:srgbClr val="434B60"/>
              </a:solidFill>
              <a:latin typeface="Plus Jakarta Sans"/>
            </a:endParaRPr>
          </a:p>
        </p:txBody>
      </p:sp>
      <p:pic>
        <p:nvPicPr>
          <p:cNvPr id="6" name="Picture 5" descr="home_watchlist.png"/>
          <p:cNvPicPr>
            <a:picLocks noChangeAspect="1"/>
          </p:cNvPicPr>
          <p:nvPr/>
        </p:nvPicPr>
        <p:blipFill>
          <a:blip r:embed="rId3"/>
          <a:srcRect l="3552" t="3000" r="25603" b="3330"/>
          <a:stretch>
            <a:fillRect/>
          </a:stretch>
        </p:blipFill>
        <p:spPr>
          <a:xfrm>
            <a:off x="705053" y="1562705"/>
            <a:ext cx="6436466" cy="45710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56964" y="1562705"/>
            <a:ext cx="4379212" cy="1454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603852" y="1847808"/>
            <a:ext cx="342366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0D1633"/>
                </a:solidFill>
                <a:latin typeface="Plus Jakarta Sans"/>
              </a:rPr>
              <a:t>내 </a:t>
            </a:r>
            <a:r>
              <a:rPr sz="1500" b="1" i="0" dirty="0" err="1">
                <a:solidFill>
                  <a:srgbClr val="0D1633"/>
                </a:solidFill>
                <a:latin typeface="Plus Jakarta Sans"/>
              </a:rPr>
              <a:t>관심종목</a:t>
            </a:r>
            <a:endParaRPr sz="1500" b="1" i="0" dirty="0">
              <a:solidFill>
                <a:srgbClr val="0D1633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03852" y="2332637"/>
            <a:ext cx="396087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관심종목의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매력도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게이지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, </a:t>
            </a:r>
            <a:r>
              <a:rPr lang="ko-KR" altLang="en-US" sz="1400" b="0" i="0" dirty="0" err="1">
                <a:solidFill>
                  <a:srgbClr val="434B60"/>
                </a:solidFill>
                <a:latin typeface="Plus Jakarta Sans"/>
              </a:rPr>
              <a:t>일봉</a:t>
            </a:r>
            <a:r>
              <a:rPr lang="ko-KR" altLang="en-US" sz="1400" b="0" i="0" dirty="0">
                <a:solidFill>
                  <a:srgbClr val="434B60"/>
                </a:solidFill>
                <a:latin typeface="Plus Jakarta Sans"/>
              </a:rPr>
              <a:t> 기준 이틀 간 차이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endParaRPr lang="en-US" sz="1400" b="0" i="0" dirty="0">
              <a:solidFill>
                <a:srgbClr val="434B60"/>
              </a:solidFill>
              <a:latin typeface="Plus Jakarta San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목표가</a:t>
            </a:r>
            <a:endParaRPr sz="1400" b="0" i="0" dirty="0">
              <a:solidFill>
                <a:srgbClr val="434B60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5053" y="6352832"/>
            <a:ext cx="5230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 dirty="0" err="1">
                <a:solidFill>
                  <a:srgbClr val="5B6377"/>
                </a:solidFill>
                <a:latin typeface="Plus Jakarta Sans"/>
              </a:rPr>
              <a:t>StockMind</a:t>
            </a:r>
            <a:r>
              <a:rPr sz="1150" b="0" i="0" dirty="0">
                <a:solidFill>
                  <a:srgbClr val="5B6377"/>
                </a:solidFill>
                <a:latin typeface="Plus Jakarta Sans"/>
              </a:rPr>
              <a:t> · 팀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6355099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5B6377"/>
                </a:solidFill>
                <a:latin typeface="Plus Jakarta Sans"/>
              </a:rPr>
              <a:t>06</a:t>
            </a: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22301D51-FB7D-1652-3D01-F91F3523F2EC}"/>
              </a:ext>
            </a:extLst>
          </p:cNvPr>
          <p:cNvSpPr/>
          <p:nvPr/>
        </p:nvSpPr>
        <p:spPr>
          <a:xfrm>
            <a:off x="7347820" y="4612632"/>
            <a:ext cx="4379212" cy="1521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611823" y="4907240"/>
            <a:ext cx="373227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1034B3"/>
                </a:solidFill>
                <a:latin typeface="Plus Jakarta Sans"/>
              </a:rPr>
              <a:t>이렇게</a:t>
            </a:r>
            <a:r>
              <a:rPr sz="1400" b="1" i="0" dirty="0">
                <a:solidFill>
                  <a:srgbClr val="1034B3"/>
                </a:solidFill>
                <a:latin typeface="Plus Jakarta Sans"/>
              </a:rPr>
              <a:t> </a:t>
            </a:r>
            <a:r>
              <a:rPr sz="1400" b="1" i="0" dirty="0" err="1">
                <a:solidFill>
                  <a:srgbClr val="1034B3"/>
                </a:solidFill>
                <a:latin typeface="Plus Jakarta Sans"/>
              </a:rPr>
              <a:t>만들었습니다</a:t>
            </a:r>
            <a:endParaRPr sz="1400" b="1" i="0" dirty="0">
              <a:solidFill>
                <a:srgbClr val="1034B3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01777" y="5358920"/>
            <a:ext cx="370117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관심종목</a:t>
            </a:r>
            <a:r>
              <a:rPr lang="ko-KR" altLang="en-US" sz="1400" b="0" i="0" dirty="0">
                <a:solidFill>
                  <a:srgbClr val="434B60"/>
                </a:solidFill>
                <a:latin typeface="Plus Jakarta Sans"/>
              </a:rPr>
              <a:t>을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lang="en-US" sz="1400" dirty="0" err="1">
                <a:solidFill>
                  <a:srgbClr val="434B60"/>
                </a:solidFill>
                <a:latin typeface="Plus Jakarta Sans"/>
              </a:rPr>
              <a:t>db</a:t>
            </a:r>
            <a:r>
              <a:rPr lang="ko-KR" altLang="en-US" sz="1400" dirty="0">
                <a:solidFill>
                  <a:srgbClr val="434B60"/>
                </a:solidFill>
                <a:latin typeface="Plus Jakarta Sans"/>
              </a:rPr>
              <a:t>에서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조회해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화면을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구성합니다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. </a:t>
            </a:r>
            <a:endParaRPr lang="en-US" sz="1400" b="0" i="0" dirty="0">
              <a:solidFill>
                <a:srgbClr val="434B60"/>
              </a:solidFill>
              <a:latin typeface="Plus Jakarta San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메모·목표가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수정</a:t>
            </a:r>
            <a:r>
              <a:rPr lang="en-US" sz="1400" b="0" i="0" dirty="0">
                <a:solidFill>
                  <a:srgbClr val="434B60"/>
                </a:solidFill>
                <a:latin typeface="Plus Jakarta Sans"/>
              </a:rPr>
              <a:t>,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순서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변경</a:t>
            </a:r>
            <a:r>
              <a:rPr lang="ko-KR" altLang="en-US" sz="1400" b="0" i="0" dirty="0">
                <a:solidFill>
                  <a:srgbClr val="434B60"/>
                </a:solidFill>
                <a:latin typeface="Plus Jakarta Sans"/>
              </a:rPr>
              <a:t>을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지원합니다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.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1161A368-944E-F527-0C3A-7F1203590C59}"/>
              </a:ext>
            </a:extLst>
          </p:cNvPr>
          <p:cNvSpPr/>
          <p:nvPr/>
        </p:nvSpPr>
        <p:spPr>
          <a:xfrm>
            <a:off x="7356964" y="3121895"/>
            <a:ext cx="4379212" cy="139559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CD5E4-08E2-2E45-968A-BAFF5883CE17}"/>
              </a:ext>
            </a:extLst>
          </p:cNvPr>
          <p:cNvSpPr txBox="1"/>
          <p:nvPr/>
        </p:nvSpPr>
        <p:spPr>
          <a:xfrm>
            <a:off x="7611823" y="3422166"/>
            <a:ext cx="342366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500" b="1" dirty="0">
                <a:solidFill>
                  <a:srgbClr val="0D1633"/>
                </a:solidFill>
                <a:latin typeface="Plus Jakarta Sans"/>
              </a:rPr>
              <a:t>가격은 </a:t>
            </a:r>
            <a:r>
              <a:rPr lang="ko-KR" altLang="en-US" sz="1500" b="1" dirty="0" err="1">
                <a:solidFill>
                  <a:srgbClr val="0D1633"/>
                </a:solidFill>
                <a:latin typeface="Plus Jakarta Sans"/>
              </a:rPr>
              <a:t>일봉만</a:t>
            </a:r>
            <a:endParaRPr sz="1500" b="1" i="0" dirty="0">
              <a:solidFill>
                <a:srgbClr val="0D1633"/>
              </a:solidFill>
              <a:latin typeface="Plus Jakarta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6A7702-8126-9763-D516-4904FE02231C}"/>
              </a:ext>
            </a:extLst>
          </p:cNvPr>
          <p:cNvSpPr txBox="1"/>
          <p:nvPr/>
        </p:nvSpPr>
        <p:spPr>
          <a:xfrm>
            <a:off x="7611823" y="3872267"/>
            <a:ext cx="396087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400" b="0" i="0" dirty="0">
                <a:solidFill>
                  <a:srgbClr val="434B60"/>
                </a:solidFill>
                <a:latin typeface="Plus Jakarta Sans"/>
              </a:rPr>
              <a:t>무의미한 등락을 보여줄 이유가 없습니다</a:t>
            </a:r>
            <a:r>
              <a:rPr lang="en-US" altLang="ko-KR" sz="1400" b="0" i="0" dirty="0">
                <a:solidFill>
                  <a:srgbClr val="434B60"/>
                </a:solidFill>
                <a:latin typeface="Plus Jakarta Sans"/>
              </a:rPr>
              <a:t>.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400" dirty="0">
                <a:solidFill>
                  <a:srgbClr val="434B60"/>
                </a:solidFill>
                <a:latin typeface="Plus Jakarta Sans"/>
              </a:rPr>
              <a:t>일봉이라는 정확한 </a:t>
            </a:r>
            <a:r>
              <a:rPr lang="ko-KR" altLang="en-US" sz="1400" b="0" i="0" dirty="0">
                <a:solidFill>
                  <a:srgbClr val="434B60"/>
                </a:solidFill>
                <a:latin typeface="Plus Jakarta Sans"/>
              </a:rPr>
              <a:t>값만 보여줍니다</a:t>
            </a:r>
            <a:endParaRPr sz="1400" b="0" i="0" dirty="0">
              <a:solidFill>
                <a:srgbClr val="434B60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E6A57-E21B-F2C6-AC7F-A990E26A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9D558E-ABBF-335A-1F64-3F91685348A3}"/>
              </a:ext>
            </a:extLst>
          </p:cNvPr>
          <p:cNvSpPr txBox="1"/>
          <p:nvPr/>
        </p:nvSpPr>
        <p:spPr>
          <a:xfrm>
            <a:off x="445234" y="324905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034B3"/>
                </a:solidFill>
                <a:latin typeface="Plus Jakarta Sans"/>
              </a:rPr>
              <a:t>03 ·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주요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기능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구현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· 홈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대시보드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F8514-E4ED-1F06-A3B2-8BD03B0AED67}"/>
              </a:ext>
            </a:extLst>
          </p:cNvPr>
          <p:cNvSpPr txBox="1"/>
          <p:nvPr/>
        </p:nvSpPr>
        <p:spPr>
          <a:xfrm>
            <a:off x="445234" y="672697"/>
            <a:ext cx="10698480" cy="4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50" b="1" i="0" dirty="0" err="1">
                <a:solidFill>
                  <a:srgbClr val="0D1633"/>
                </a:solidFill>
                <a:latin typeface="Plus Jakarta Sans"/>
              </a:rPr>
              <a:t>오늘의</a:t>
            </a:r>
            <a:r>
              <a:rPr sz="2950" b="1" i="0" dirty="0">
                <a:solidFill>
                  <a:srgbClr val="0D1633"/>
                </a:solidFill>
                <a:latin typeface="Plus Jakarta Sans"/>
              </a:rPr>
              <a:t> </a:t>
            </a:r>
            <a:r>
              <a:rPr sz="2950" b="1" i="0" dirty="0" err="1">
                <a:solidFill>
                  <a:srgbClr val="0D1633"/>
                </a:solidFill>
                <a:latin typeface="Plus Jakarta Sans"/>
              </a:rPr>
              <a:t>주목</a:t>
            </a:r>
            <a:r>
              <a:rPr sz="2950" b="1" i="0" dirty="0">
                <a:solidFill>
                  <a:srgbClr val="0D1633"/>
                </a:solidFill>
                <a:latin typeface="Plus Jakarta Sans"/>
              </a:rPr>
              <a:t> </a:t>
            </a:r>
            <a:r>
              <a:rPr sz="2950" b="1" i="0" dirty="0" err="1">
                <a:solidFill>
                  <a:srgbClr val="0D1633"/>
                </a:solidFill>
                <a:latin typeface="Plus Jakarta Sans"/>
              </a:rPr>
              <a:t>종목</a:t>
            </a:r>
            <a:r>
              <a:rPr lang="en-US" sz="2950" b="1" i="0" dirty="0">
                <a:solidFill>
                  <a:srgbClr val="0D1633"/>
                </a:solidFill>
                <a:latin typeface="Plus Jakarta Sans"/>
              </a:rPr>
              <a:t> </a:t>
            </a:r>
            <a:r>
              <a:rPr lang="ko-KR" altLang="en-US" sz="2950" b="1" i="0" dirty="0">
                <a:solidFill>
                  <a:srgbClr val="0D1633"/>
                </a:solidFill>
                <a:latin typeface="Plus Jakarta Sans"/>
              </a:rPr>
              <a:t>순위</a:t>
            </a:r>
            <a:endParaRPr sz="2950" b="1" i="0" dirty="0">
              <a:solidFill>
                <a:srgbClr val="0D1633"/>
              </a:solidFill>
              <a:latin typeface="Plus Jakarta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6485D-D75A-5917-3B3E-57C38E86A642}"/>
              </a:ext>
            </a:extLst>
          </p:cNvPr>
          <p:cNvSpPr txBox="1"/>
          <p:nvPr/>
        </p:nvSpPr>
        <p:spPr>
          <a:xfrm>
            <a:off x="472666" y="1221337"/>
            <a:ext cx="3710714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 dirty="0" err="1">
                <a:solidFill>
                  <a:srgbClr val="434B60"/>
                </a:solidFill>
                <a:latin typeface="Plus Jakarta Sans"/>
              </a:rPr>
              <a:t>오늘</a:t>
            </a:r>
            <a:r>
              <a:rPr sz="122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220" b="0" i="0" dirty="0" err="1">
                <a:solidFill>
                  <a:srgbClr val="434B60"/>
                </a:solidFill>
                <a:latin typeface="Plus Jakarta Sans"/>
              </a:rPr>
              <a:t>시장에서</a:t>
            </a:r>
            <a:r>
              <a:rPr sz="122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220" b="0" i="0" dirty="0" err="1">
                <a:solidFill>
                  <a:srgbClr val="434B60"/>
                </a:solidFill>
                <a:latin typeface="Plus Jakarta Sans"/>
              </a:rPr>
              <a:t>주목할</a:t>
            </a:r>
            <a:r>
              <a:rPr lang="en-US" sz="122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lang="ko-KR" altLang="en-US" sz="1220" b="0" i="0" dirty="0">
                <a:solidFill>
                  <a:srgbClr val="434B60"/>
                </a:solidFill>
                <a:latin typeface="Plus Jakarta Sans"/>
              </a:rPr>
              <a:t>종목</a:t>
            </a:r>
            <a:endParaRPr sz="1220" b="0" i="0" dirty="0">
              <a:solidFill>
                <a:srgbClr val="434B60"/>
              </a:solidFill>
              <a:latin typeface="Plus Jakarta Sans"/>
            </a:endParaRP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0BD9FE38-C6C4-F083-399C-DA614224D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91894"/>
            <a:ext cx="7247887" cy="422884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DD893B-4019-015F-3722-19E9D3F65273}"/>
              </a:ext>
            </a:extLst>
          </p:cNvPr>
          <p:cNvSpPr/>
          <p:nvPr/>
        </p:nvSpPr>
        <p:spPr>
          <a:xfrm>
            <a:off x="7567927" y="2150306"/>
            <a:ext cx="4304033" cy="1632634"/>
          </a:xfrm>
          <a:prstGeom prst="roundRect">
            <a:avLst/>
          </a:prstGeom>
          <a:solidFill>
            <a:srgbClr val="DC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A69C91-E8A2-5FBD-4015-716BF2A56CE3}"/>
              </a:ext>
            </a:extLst>
          </p:cNvPr>
          <p:cNvSpPr txBox="1"/>
          <p:nvPr/>
        </p:nvSpPr>
        <p:spPr>
          <a:xfrm>
            <a:off x="7814814" y="2466110"/>
            <a:ext cx="345535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0D1633"/>
                </a:solidFill>
                <a:latin typeface="Plus Jakarta Sans"/>
              </a:rPr>
              <a:t>시장</a:t>
            </a:r>
            <a:r>
              <a:rPr sz="1400" b="1" i="0" dirty="0">
                <a:solidFill>
                  <a:srgbClr val="0D1633"/>
                </a:solidFill>
                <a:latin typeface="Plus Jakarta Sans"/>
              </a:rPr>
              <a:t> </a:t>
            </a:r>
            <a:r>
              <a:rPr sz="1400" b="1" i="0" dirty="0" err="1">
                <a:solidFill>
                  <a:srgbClr val="0D1633"/>
                </a:solidFill>
                <a:latin typeface="Plus Jakarta Sans"/>
              </a:rPr>
              <a:t>주목</a:t>
            </a:r>
            <a:r>
              <a:rPr sz="1400" b="1" i="0" dirty="0">
                <a:solidFill>
                  <a:srgbClr val="0D1633"/>
                </a:solidFill>
                <a:latin typeface="Plus Jakarta Sans"/>
              </a:rPr>
              <a:t> </a:t>
            </a:r>
            <a:r>
              <a:rPr sz="1400" b="1" i="0" dirty="0" err="1">
                <a:solidFill>
                  <a:srgbClr val="0D1633"/>
                </a:solidFill>
                <a:latin typeface="Plus Jakarta Sans"/>
              </a:rPr>
              <a:t>종목</a:t>
            </a:r>
            <a:r>
              <a:rPr sz="1400" b="1" i="0" dirty="0">
                <a:solidFill>
                  <a:srgbClr val="0D1633"/>
                </a:solidFill>
                <a:latin typeface="Plus Jakarta Sans"/>
              </a:rPr>
              <a:t> TOP 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7A5771-D1F0-F399-F477-EB2CA2B9DADD}"/>
              </a:ext>
            </a:extLst>
          </p:cNvPr>
          <p:cNvSpPr txBox="1"/>
          <p:nvPr/>
        </p:nvSpPr>
        <p:spPr>
          <a:xfrm>
            <a:off x="7814814" y="2871573"/>
            <a:ext cx="353712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거래량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급증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(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직전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20거래일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평균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대비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)과 </a:t>
            </a:r>
            <a:endParaRPr lang="en-US" sz="1400" b="0" i="0" dirty="0">
              <a:solidFill>
                <a:srgbClr val="434B60"/>
              </a:solidFill>
              <a:latin typeface="Plus Jakarta San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매력도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순위를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국내·미국으로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나눠</a:t>
            </a:r>
            <a:endParaRPr lang="en-US" sz="1400" b="0" i="0" dirty="0">
              <a:solidFill>
                <a:srgbClr val="434B60"/>
              </a:solidFill>
              <a:latin typeface="Plus Jakarta San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434B60"/>
                </a:solidFill>
                <a:latin typeface="Plus Jakarta Sans"/>
              </a:rPr>
              <a:t>4개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카드에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담았습니다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0B124C5-9CE6-45AD-73BD-DCB1645F27EC}"/>
              </a:ext>
            </a:extLst>
          </p:cNvPr>
          <p:cNvSpPr/>
          <p:nvPr/>
        </p:nvSpPr>
        <p:spPr>
          <a:xfrm>
            <a:off x="7567927" y="3972959"/>
            <a:ext cx="4304033" cy="1833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3A4196-D2D0-B016-D5AC-3E1D6FF2891F}"/>
              </a:ext>
            </a:extLst>
          </p:cNvPr>
          <p:cNvSpPr txBox="1"/>
          <p:nvPr/>
        </p:nvSpPr>
        <p:spPr>
          <a:xfrm>
            <a:off x="7792511" y="4299810"/>
            <a:ext cx="3537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1034B3"/>
                </a:solidFill>
                <a:latin typeface="Plus Jakarta Sans"/>
              </a:rPr>
              <a:t>이렇게</a:t>
            </a:r>
            <a:r>
              <a:rPr sz="1400" b="1" i="0" dirty="0">
                <a:solidFill>
                  <a:srgbClr val="1034B3"/>
                </a:solidFill>
                <a:latin typeface="Plus Jakarta Sans"/>
              </a:rPr>
              <a:t> </a:t>
            </a:r>
            <a:r>
              <a:rPr sz="1400" b="1" i="0" dirty="0" err="1">
                <a:solidFill>
                  <a:srgbClr val="1034B3"/>
                </a:solidFill>
                <a:latin typeface="Plus Jakarta Sans"/>
              </a:rPr>
              <a:t>만들었습니다</a:t>
            </a:r>
            <a:endParaRPr sz="1400" b="1" i="0" dirty="0">
              <a:solidFill>
                <a:srgbClr val="1034B3"/>
              </a:solidFill>
              <a:latin typeface="Plus Jakarta Sa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AAE2B4-5A65-68E4-0F96-7B18BB32955D}"/>
              </a:ext>
            </a:extLst>
          </p:cNvPr>
          <p:cNvSpPr txBox="1"/>
          <p:nvPr/>
        </p:nvSpPr>
        <p:spPr>
          <a:xfrm>
            <a:off x="7792511" y="4788844"/>
            <a:ext cx="418389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434B60"/>
                </a:solidFill>
                <a:latin typeface="Plus Jakarta Sans"/>
              </a:rPr>
              <a:t>TOP 5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데이터를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lang="en-US" sz="1400" dirty="0" err="1">
                <a:solidFill>
                  <a:srgbClr val="434B60"/>
                </a:solidFill>
                <a:latin typeface="Plus Jakarta Sans"/>
              </a:rPr>
              <a:t>db</a:t>
            </a:r>
            <a:r>
              <a:rPr lang="ko-KR" altLang="en-US" sz="1400" dirty="0">
                <a:solidFill>
                  <a:srgbClr val="434B60"/>
                </a:solidFill>
                <a:latin typeface="Plus Jakarta Sans"/>
              </a:rPr>
              <a:t>에서 </a:t>
            </a:r>
            <a:r>
              <a:rPr lang="en-US" altLang="ko-KR" sz="1400" dirty="0">
                <a:solidFill>
                  <a:srgbClr val="434B60"/>
                </a:solidFill>
                <a:latin typeface="Plus Jakarta Sans"/>
              </a:rPr>
              <a:t>rank() </a:t>
            </a:r>
            <a:r>
              <a:rPr sz="1400" b="0" i="0" dirty="0" err="1">
                <a:solidFill>
                  <a:srgbClr val="434B60"/>
                </a:solidFill>
                <a:latin typeface="Plus Jakarta Sans"/>
              </a:rPr>
              <a:t>조회</a:t>
            </a:r>
            <a:r>
              <a:rPr sz="1400" b="0" i="0" dirty="0">
                <a:solidFill>
                  <a:srgbClr val="434B60"/>
                </a:solidFill>
                <a:latin typeface="Plus Jakarta Sans"/>
              </a:rPr>
              <a:t> </a:t>
            </a:r>
            <a:endParaRPr lang="en-US" sz="1400" b="0" i="0" dirty="0">
              <a:solidFill>
                <a:srgbClr val="434B60"/>
              </a:solidFill>
              <a:latin typeface="Plus Jakarta San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400" b="0" i="0" dirty="0">
                <a:solidFill>
                  <a:srgbClr val="434B60"/>
                </a:solidFill>
                <a:latin typeface="Plus Jakarta Sans"/>
              </a:rPr>
              <a:t>동률일 경우 </a:t>
            </a:r>
            <a:r>
              <a:rPr lang="ko-KR" altLang="en-US" sz="1400" b="0" i="0" dirty="0" err="1">
                <a:solidFill>
                  <a:srgbClr val="434B60"/>
                </a:solidFill>
                <a:latin typeface="Plus Jakarta Sans"/>
              </a:rPr>
              <a:t>티커를</a:t>
            </a:r>
            <a:r>
              <a:rPr lang="ko-KR" altLang="en-US" sz="1400" b="0" i="0" dirty="0">
                <a:solidFill>
                  <a:srgbClr val="434B60"/>
                </a:solidFill>
                <a:latin typeface="Plus Jakarta Sans"/>
              </a:rPr>
              <a:t> 기준으로 </a:t>
            </a:r>
            <a:r>
              <a:rPr lang="en-US" altLang="ko-KR" sz="1400" dirty="0">
                <a:solidFill>
                  <a:srgbClr val="434B60"/>
                </a:solidFill>
                <a:latin typeface="Plus Jakarta Sans"/>
              </a:rPr>
              <a:t>ORDER BY </a:t>
            </a:r>
            <a:r>
              <a:rPr lang="ko-KR" altLang="en-US" sz="1400" dirty="0">
                <a:solidFill>
                  <a:srgbClr val="434B60"/>
                </a:solidFill>
                <a:latin typeface="Plus Jakarta Sans"/>
              </a:rPr>
              <a:t>하여 항상</a:t>
            </a:r>
            <a:endParaRPr lang="en-US" altLang="ko-KR" sz="1400" dirty="0">
              <a:solidFill>
                <a:srgbClr val="434B60"/>
              </a:solidFill>
              <a:latin typeface="Plus Jakarta San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400" b="0" i="0" dirty="0">
                <a:solidFill>
                  <a:srgbClr val="434B60"/>
                </a:solidFill>
                <a:latin typeface="Plus Jakarta Sans"/>
              </a:rPr>
              <a:t>동일한 기준으로 표기되도록 합니다</a:t>
            </a:r>
            <a:endParaRPr lang="en-US" sz="1400" b="0" i="0" dirty="0">
              <a:solidFill>
                <a:srgbClr val="434B60"/>
              </a:solidFill>
              <a:latin typeface="Plus Jakarta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58FD7B-D374-DA43-42EF-E7F46750C95F}"/>
              </a:ext>
            </a:extLst>
          </p:cNvPr>
          <p:cNvSpPr txBox="1"/>
          <p:nvPr/>
        </p:nvSpPr>
        <p:spPr>
          <a:xfrm>
            <a:off x="516450" y="6073865"/>
            <a:ext cx="5230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7"/>
                </a:solidFill>
                <a:latin typeface="Plus Jakarta Sans"/>
              </a:rPr>
              <a:t>StockMind · 팀 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64450A-D8CD-9AA7-0902-81EAB983EF7A}"/>
              </a:ext>
            </a:extLst>
          </p:cNvPr>
          <p:cNvSpPr txBox="1"/>
          <p:nvPr/>
        </p:nvSpPr>
        <p:spPr>
          <a:xfrm>
            <a:off x="10349967" y="6073865"/>
            <a:ext cx="1316736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150" b="0" i="0" dirty="0">
                <a:solidFill>
                  <a:srgbClr val="5B6377"/>
                </a:solidFill>
                <a:latin typeface="Plus Jakarta Sans"/>
              </a:rPr>
              <a:t>07</a:t>
            </a:r>
            <a:endParaRPr sz="1150" b="0" i="0" dirty="0">
              <a:solidFill>
                <a:srgbClr val="5B6377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334028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538768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34B3"/>
                </a:solidFill>
                <a:latin typeface="Plus Jakarta Sans"/>
              </a:rPr>
              <a:t>03 · 주요 기능 구현 · 종목 상세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32688"/>
            <a:ext cx="10698480" cy="4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950" b="1" i="0" dirty="0">
                <a:solidFill>
                  <a:srgbClr val="0D1633"/>
                </a:solidFill>
                <a:latin typeface="Plus Jakarta Sans"/>
              </a:rPr>
              <a:t>가격 흐름부터 한눈에</a:t>
            </a:r>
            <a:endParaRPr sz="2950" b="1" i="0" dirty="0">
              <a:solidFill>
                <a:srgbClr val="0D1633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" y="1481328"/>
            <a:ext cx="106070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34B60"/>
                </a:solidFill>
                <a:latin typeface="Plus Jakarta Sans"/>
              </a:rPr>
              <a:t>종목을 누르면 가장 먼저 보이는 영역입니다. 가격은 일봉 기준으로만 보여 줍니다.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6236208"/>
            <a:ext cx="5230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7"/>
                </a:solidFill>
                <a:latin typeface="Plus Jakarta Sans"/>
              </a:rPr>
              <a:t>StockMind · 팀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9347" y="6236208"/>
            <a:ext cx="1316736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5B6377"/>
                </a:solidFill>
                <a:latin typeface="Plus Jakarta Sans"/>
              </a:rPr>
              <a:t>08</a:t>
            </a:r>
          </a:p>
        </p:txBody>
      </p:sp>
      <p:pic>
        <p:nvPicPr>
          <p:cNvPr id="26" name="종목 상세 - 가격 흐름 화면" descr="삼성전자 종목 상세 상단: 현재가, 관심종목 별, 포트폴리오에 담기 버튼, 기간 선택 가격 차트와 거래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30000"/>
            <a:ext cx="6400000" cy="3227826"/>
          </a:xfrm>
          <a:prstGeom prst="rect">
            <a:avLst/>
          </a:prstGeom>
        </p:spPr>
      </p:pic>
      <p:sp>
        <p:nvSpPr>
          <p:cNvPr id="27" name="마커 1"/>
          <p:cNvSpPr/>
          <p:nvPr/>
        </p:nvSpPr>
        <p:spPr>
          <a:xfrm>
            <a:off x="775598" y="2899086"/>
            <a:ext cx="210000" cy="210000"/>
          </a:xfrm>
          <a:prstGeom prst="ellipse">
            <a:avLst/>
          </a:prstGeom>
          <a:solidFill>
            <a:srgbClr val="1034B3"/>
          </a:solidFill>
          <a:ln w="222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8" name="마커 2"/>
          <p:cNvSpPr/>
          <p:nvPr/>
        </p:nvSpPr>
        <p:spPr>
          <a:xfrm>
            <a:off x="4493163" y="2309173"/>
            <a:ext cx="210000" cy="210000"/>
          </a:xfrm>
          <a:prstGeom prst="ellipse">
            <a:avLst/>
          </a:prstGeom>
          <a:solidFill>
            <a:srgbClr val="1034B3"/>
          </a:solidFill>
          <a:ln w="222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9" name="마커 3"/>
          <p:cNvSpPr/>
          <p:nvPr/>
        </p:nvSpPr>
        <p:spPr>
          <a:xfrm>
            <a:off x="6018033" y="2342565"/>
            <a:ext cx="210000" cy="210000"/>
          </a:xfrm>
          <a:prstGeom prst="ellipse">
            <a:avLst/>
          </a:prstGeom>
          <a:solidFill>
            <a:srgbClr val="1034B3"/>
          </a:solidFill>
          <a:ln w="222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30" name="항목 1 번호"/>
          <p:cNvSpPr/>
          <p:nvPr/>
        </p:nvSpPr>
        <p:spPr>
          <a:xfrm>
            <a:off x="7620000" y="1990000"/>
            <a:ext cx="262000" cy="262000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31" name="항목 1 제목"/>
          <p:cNvSpPr txBox="1"/>
          <p:nvPr/>
        </p:nvSpPr>
        <p:spPr>
          <a:xfrm>
            <a:off x="8020000" y="1982000"/>
            <a:ext cx="36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1633"/>
                </a:solidFill>
                <a:latin typeface="Plus Jakarta Sans"/>
              </a:rPr>
              <a:t>가격 흐름</a:t>
            </a:r>
          </a:p>
        </p:txBody>
      </p:sp>
      <p:sp>
        <p:nvSpPr>
          <p:cNvPr id="32" name="항목 1 설명"/>
          <p:cNvSpPr txBox="1"/>
          <p:nvPr/>
        </p:nvSpPr>
        <p:spPr>
          <a:xfrm>
            <a:off x="8020000" y="2280000"/>
            <a:ext cx="3600000" cy="460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34B60"/>
                </a:solidFill>
                <a:latin typeface="Plus Jakarta Sans"/>
              </a:rPr>
              <a:t>1개월·3개월·6개월·1년 종가 차트와 거래량을 함께 볼 수 있습니다.</a:t>
            </a:r>
          </a:p>
        </p:txBody>
      </p:sp>
      <p:sp>
        <p:nvSpPr>
          <p:cNvPr id="33" name="항목 2 번호"/>
          <p:cNvSpPr/>
          <p:nvPr/>
        </p:nvSpPr>
        <p:spPr>
          <a:xfrm>
            <a:off x="7620000" y="3090000"/>
            <a:ext cx="262000" cy="262000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34" name="항목 2 제목"/>
          <p:cNvSpPr txBox="1"/>
          <p:nvPr/>
        </p:nvSpPr>
        <p:spPr>
          <a:xfrm>
            <a:off x="8020000" y="3082000"/>
            <a:ext cx="36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1633"/>
                </a:solidFill>
                <a:latin typeface="Plus Jakarta Sans"/>
              </a:rPr>
              <a:t>일봉 기준 가격</a:t>
            </a:r>
          </a:p>
        </p:txBody>
      </p:sp>
      <p:sp>
        <p:nvSpPr>
          <p:cNvPr id="35" name="항목 2 설명"/>
          <p:cNvSpPr txBox="1"/>
          <p:nvPr/>
        </p:nvSpPr>
        <p:spPr>
          <a:xfrm>
            <a:off x="8020000" y="3380000"/>
            <a:ext cx="3600000" cy="460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34B60"/>
                </a:solidFill>
                <a:latin typeface="Plus Jakarta Sans"/>
              </a:rPr>
              <a:t>등락과 기준일(일봉 종가)을 함께 표시해 어느 날의 값인지 알 수 있습니다.</a:t>
            </a:r>
          </a:p>
        </p:txBody>
      </p:sp>
      <p:sp>
        <p:nvSpPr>
          <p:cNvPr id="36" name="항목 3 번호"/>
          <p:cNvSpPr/>
          <p:nvPr/>
        </p:nvSpPr>
        <p:spPr>
          <a:xfrm>
            <a:off x="7620000" y="4190000"/>
            <a:ext cx="262000" cy="262000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37" name="항목 3 제목"/>
          <p:cNvSpPr txBox="1"/>
          <p:nvPr/>
        </p:nvSpPr>
        <p:spPr>
          <a:xfrm>
            <a:off x="8020000" y="4182000"/>
            <a:ext cx="36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1633"/>
                </a:solidFill>
                <a:latin typeface="Plus Jakarta Sans"/>
              </a:rPr>
              <a:t>바로 담기</a:t>
            </a:r>
          </a:p>
        </p:txBody>
      </p:sp>
      <p:sp>
        <p:nvSpPr>
          <p:cNvPr id="38" name="항목 3 설명"/>
          <p:cNvSpPr txBox="1"/>
          <p:nvPr/>
        </p:nvSpPr>
        <p:spPr>
          <a:xfrm>
            <a:off x="8020000" y="4480000"/>
            <a:ext cx="3600000" cy="460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34B60"/>
                </a:solidFill>
                <a:latin typeface="Plus Jakarta Sans"/>
              </a:rPr>
              <a:t>★로 관심종목에 추가하고, 포트폴리오에 바로 담을 수 있습니다.</a:t>
            </a:r>
          </a:p>
        </p:txBody>
      </p:sp>
      <p:sp>
        <p:nvSpPr>
          <p:cNvPr id="39" name="구현 메모"/>
          <p:cNvSpPr txBox="1"/>
          <p:nvPr/>
        </p:nvSpPr>
        <p:spPr>
          <a:xfrm>
            <a:off x="813816" y="5287826"/>
            <a:ext cx="6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>
                <a:solidFill>
                  <a:srgbClr val="5B6377"/>
                </a:solidFill>
                <a:latin typeface="Plus Jakarta Sans"/>
              </a:rPr>
              <a:t>구현: 시세(일봉) 조회 API를 차트·거래량 영역에 연결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5A24F-2667-6C0D-4CA8-4CCAF3F4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A2127B-BD33-C7D6-1177-4354BE01B613}"/>
              </a:ext>
            </a:extLst>
          </p:cNvPr>
          <p:cNvSpPr txBox="1"/>
          <p:nvPr/>
        </p:nvSpPr>
        <p:spPr>
          <a:xfrm>
            <a:off x="813816" y="538768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34B3"/>
                </a:solidFill>
                <a:latin typeface="Plus Jakarta Sans"/>
              </a:rPr>
              <a:t>03 · 주요 기능 구현 · 종목 상세 (2/3)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4BA15-6C37-E615-F0E4-DD28CAB5D9D3}"/>
              </a:ext>
            </a:extLst>
          </p:cNvPr>
          <p:cNvSpPr txBox="1"/>
          <p:nvPr/>
        </p:nvSpPr>
        <p:spPr>
          <a:xfrm>
            <a:off x="813816" y="932688"/>
            <a:ext cx="10698480" cy="4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950" b="1" i="0" dirty="0">
                <a:solidFill>
                  <a:srgbClr val="0D1633"/>
                </a:solidFill>
                <a:latin typeface="Plus Jakarta Sans"/>
              </a:rPr>
              <a:t>투자 매력도: 점수 하나로 요약</a:t>
            </a:r>
            <a:endParaRPr sz="2950" b="1" i="0" dirty="0">
              <a:solidFill>
                <a:srgbClr val="0D1633"/>
              </a:solidFill>
              <a:latin typeface="Plus Jakarta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8BC54-7163-DF33-3E44-75B0EC23E2E1}"/>
              </a:ext>
            </a:extLst>
          </p:cNvPr>
          <p:cNvSpPr txBox="1"/>
          <p:nvPr/>
        </p:nvSpPr>
        <p:spPr>
          <a:xfrm>
            <a:off x="841248" y="1481328"/>
            <a:ext cx="106070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34B60"/>
                </a:solidFill>
                <a:latin typeface="Plus Jakarta Sans"/>
              </a:rPr>
              <a:t>9개 지표를 5가지 질문으로 묶어 0~100점으로 보여 줍니다. 입문자가 좋다·나쁘다를 바로 읽을 수 있게 했습니다.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DC76E4-335D-509F-00C8-227338FF0DA6}"/>
              </a:ext>
            </a:extLst>
          </p:cNvPr>
          <p:cNvSpPr txBox="1"/>
          <p:nvPr/>
        </p:nvSpPr>
        <p:spPr>
          <a:xfrm>
            <a:off x="813816" y="6236208"/>
            <a:ext cx="5230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7"/>
                </a:solidFill>
                <a:latin typeface="Plus Jakarta Sans"/>
              </a:rPr>
              <a:t>StockMind · 팀 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CE0980-119A-D52C-2A19-D192A59ED697}"/>
              </a:ext>
            </a:extLst>
          </p:cNvPr>
          <p:cNvSpPr txBox="1"/>
          <p:nvPr/>
        </p:nvSpPr>
        <p:spPr>
          <a:xfrm>
            <a:off x="10369347" y="6236208"/>
            <a:ext cx="1316736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5B6377"/>
                </a:solidFill>
                <a:latin typeface="Plus Jakarta Sans"/>
              </a:rPr>
              <a:t>09</a:t>
            </a:r>
          </a:p>
        </p:txBody>
      </p:sp>
      <p:pic>
        <p:nvPicPr>
          <p:cNvPr id="26" name="종목 상세 - 투자 매력도 화면" descr="투자 매력도 카드: 매력 점수 75점과 국내 비교군 70개 중 16위, 시장·섹터 점수 16점, 5요소 레이더, 날씨 아이콘이 붙은 5요소 카드, 계산 근거 보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30000"/>
            <a:ext cx="6400000" cy="3689083"/>
          </a:xfrm>
          <a:prstGeom prst="rect">
            <a:avLst/>
          </a:prstGeom>
        </p:spPr>
      </p:pic>
      <p:sp>
        <p:nvSpPr>
          <p:cNvPr id="27" name="마커 1"/>
          <p:cNvSpPr/>
          <p:nvPr/>
        </p:nvSpPr>
        <p:spPr>
          <a:xfrm>
            <a:off x="977112" y="2328056"/>
            <a:ext cx="210000" cy="210000"/>
          </a:xfrm>
          <a:prstGeom prst="ellipse">
            <a:avLst/>
          </a:prstGeom>
          <a:solidFill>
            <a:srgbClr val="1034B3"/>
          </a:solidFill>
          <a:ln w="222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8" name="마커 1 (투자 성향)"/>
          <p:cNvSpPr/>
          <p:nvPr/>
        </p:nvSpPr>
        <p:spPr>
          <a:xfrm>
            <a:off x="5990912" y="2076528"/>
            <a:ext cx="210000" cy="210000"/>
          </a:xfrm>
          <a:prstGeom prst="ellipse">
            <a:avLst/>
          </a:prstGeom>
          <a:solidFill>
            <a:srgbClr val="1034B3"/>
          </a:solidFill>
          <a:ln w="222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9" name="마커 2"/>
          <p:cNvSpPr/>
          <p:nvPr/>
        </p:nvSpPr>
        <p:spPr>
          <a:xfrm>
            <a:off x="943575" y="3295043"/>
            <a:ext cx="210000" cy="210000"/>
          </a:xfrm>
          <a:prstGeom prst="ellipse">
            <a:avLst/>
          </a:prstGeom>
          <a:solidFill>
            <a:srgbClr val="1034B3"/>
          </a:solidFill>
          <a:ln w="222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30" name="마커 3"/>
          <p:cNvSpPr/>
          <p:nvPr/>
        </p:nvSpPr>
        <p:spPr>
          <a:xfrm>
            <a:off x="5208379" y="2411899"/>
            <a:ext cx="210000" cy="210000"/>
          </a:xfrm>
          <a:prstGeom prst="ellipse">
            <a:avLst/>
          </a:prstGeom>
          <a:solidFill>
            <a:srgbClr val="1034B3"/>
          </a:solidFill>
          <a:ln w="222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31" name="마커 4"/>
          <p:cNvSpPr/>
          <p:nvPr/>
        </p:nvSpPr>
        <p:spPr>
          <a:xfrm>
            <a:off x="815016" y="4675655"/>
            <a:ext cx="210000" cy="210000"/>
          </a:xfrm>
          <a:prstGeom prst="ellipse">
            <a:avLst/>
          </a:prstGeom>
          <a:solidFill>
            <a:srgbClr val="1034B3"/>
          </a:solidFill>
          <a:ln w="222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32" name="마커 5"/>
          <p:cNvSpPr/>
          <p:nvPr/>
        </p:nvSpPr>
        <p:spPr>
          <a:xfrm>
            <a:off x="798248" y="5066921"/>
            <a:ext cx="210000" cy="210000"/>
          </a:xfrm>
          <a:prstGeom prst="ellipse">
            <a:avLst/>
          </a:prstGeom>
          <a:solidFill>
            <a:srgbClr val="1034B3"/>
          </a:solidFill>
          <a:ln w="222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33" name="항목 1 번호"/>
          <p:cNvSpPr/>
          <p:nvPr/>
        </p:nvSpPr>
        <p:spPr>
          <a:xfrm>
            <a:off x="7482000" y="1920016"/>
            <a:ext cx="262000" cy="262000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34" name="항목 1 제목"/>
          <p:cNvSpPr txBox="1"/>
          <p:nvPr/>
        </p:nvSpPr>
        <p:spPr>
          <a:xfrm>
            <a:off x="7882000" y="1912016"/>
            <a:ext cx="36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1633"/>
                </a:solidFill>
                <a:latin typeface="Plus Jakarta Sans"/>
              </a:rPr>
              <a:t>매력도 점수와 순위</a:t>
            </a:r>
          </a:p>
        </p:txBody>
      </p:sp>
      <p:sp>
        <p:nvSpPr>
          <p:cNvPr id="35" name="항목 1 설명"/>
          <p:cNvSpPr txBox="1"/>
          <p:nvPr/>
        </p:nvSpPr>
        <p:spPr>
          <a:xfrm>
            <a:off x="7882000" y="2210016"/>
            <a:ext cx="3600000" cy="460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34B60"/>
                </a:solidFill>
                <a:latin typeface="Plus Jakarta Sans"/>
              </a:rPr>
              <a:t>0~100점과 비교군 안의 순위. 투자 성향을 바꾸면 점수가 달라집니다.</a:t>
            </a:r>
          </a:p>
        </p:txBody>
      </p:sp>
      <p:sp>
        <p:nvSpPr>
          <p:cNvPr id="36" name="항목 2 번호"/>
          <p:cNvSpPr/>
          <p:nvPr/>
        </p:nvSpPr>
        <p:spPr>
          <a:xfrm>
            <a:off x="7482000" y="2772318"/>
            <a:ext cx="262000" cy="262000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37" name="항목 2 제목"/>
          <p:cNvSpPr txBox="1"/>
          <p:nvPr/>
        </p:nvSpPr>
        <p:spPr>
          <a:xfrm>
            <a:off x="7882000" y="2764318"/>
            <a:ext cx="36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1633"/>
                </a:solidFill>
                <a:latin typeface="Plus Jakarta Sans"/>
              </a:rPr>
              <a:t>시장·섹터 점수</a:t>
            </a:r>
          </a:p>
        </p:txBody>
      </p:sp>
      <p:sp>
        <p:nvSpPr>
          <p:cNvPr id="38" name="항목 2 설명"/>
          <p:cNvSpPr txBox="1"/>
          <p:nvPr/>
        </p:nvSpPr>
        <p:spPr>
          <a:xfrm>
            <a:off x="7882000" y="3062318"/>
            <a:ext cx="3600000" cy="460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dirty="0" err="1">
                <a:solidFill>
                  <a:srgbClr val="434B60"/>
                </a:solidFill>
                <a:latin typeface="Plus Jakarta Sans"/>
              </a:rPr>
              <a:t>종목이</a:t>
            </a:r>
            <a:r>
              <a:rPr sz="1400" b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dirty="0" err="1">
                <a:solidFill>
                  <a:srgbClr val="434B60"/>
                </a:solidFill>
                <a:latin typeface="Plus Jakarta Sans"/>
              </a:rPr>
              <a:t>좋아도</a:t>
            </a:r>
            <a:r>
              <a:rPr sz="1400" b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dirty="0" err="1">
                <a:solidFill>
                  <a:srgbClr val="434B60"/>
                </a:solidFill>
                <a:latin typeface="Plus Jakarta Sans"/>
              </a:rPr>
              <a:t>오늘</a:t>
            </a:r>
            <a:r>
              <a:rPr sz="1400" b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dirty="0" err="1">
                <a:solidFill>
                  <a:srgbClr val="434B60"/>
                </a:solidFill>
                <a:latin typeface="Plus Jakarta Sans"/>
              </a:rPr>
              <a:t>시장이</a:t>
            </a:r>
            <a:r>
              <a:rPr sz="1400" b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dirty="0" err="1">
                <a:solidFill>
                  <a:srgbClr val="434B60"/>
                </a:solidFill>
                <a:latin typeface="Plus Jakarta Sans"/>
              </a:rPr>
              <a:t>별로인지</a:t>
            </a:r>
            <a:r>
              <a:rPr sz="1400" b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dirty="0" err="1">
                <a:solidFill>
                  <a:srgbClr val="434B60"/>
                </a:solidFill>
                <a:latin typeface="Plus Jakarta Sans"/>
              </a:rPr>
              <a:t>따로</a:t>
            </a:r>
            <a:r>
              <a:rPr sz="1400" b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dirty="0" err="1">
                <a:solidFill>
                  <a:srgbClr val="434B60"/>
                </a:solidFill>
                <a:latin typeface="Plus Jakarta Sans"/>
              </a:rPr>
              <a:t>점수로</a:t>
            </a:r>
            <a:r>
              <a:rPr sz="1400" b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dirty="0" err="1">
                <a:solidFill>
                  <a:srgbClr val="434B60"/>
                </a:solidFill>
                <a:latin typeface="Plus Jakarta Sans"/>
              </a:rPr>
              <a:t>보여</a:t>
            </a:r>
            <a:r>
              <a:rPr sz="1400" b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sz="1400" b="0" dirty="0" err="1">
                <a:solidFill>
                  <a:srgbClr val="434B60"/>
                </a:solidFill>
                <a:latin typeface="Plus Jakarta Sans"/>
              </a:rPr>
              <a:t>줍니다</a:t>
            </a:r>
            <a:r>
              <a:rPr sz="1400" b="0" dirty="0">
                <a:solidFill>
                  <a:srgbClr val="434B60"/>
                </a:solidFill>
                <a:latin typeface="Plus Jakarta Sans"/>
              </a:rPr>
              <a:t>.</a:t>
            </a:r>
            <a:r>
              <a:rPr lang="en-US" sz="1400" b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lang="ko-KR" altLang="en-US" sz="1400" dirty="0">
                <a:solidFill>
                  <a:srgbClr val="434B60"/>
                </a:solidFill>
                <a:latin typeface="Plus Jakarta Sans"/>
              </a:rPr>
              <a:t>섹터 비교군은 </a:t>
            </a:r>
            <a:r>
              <a:rPr lang="en-US" altLang="ko-KR" sz="1400" dirty="0">
                <a:solidFill>
                  <a:srgbClr val="434B60"/>
                </a:solidFill>
                <a:latin typeface="Plus Jakarta Sans"/>
              </a:rPr>
              <a:t>10</a:t>
            </a:r>
            <a:r>
              <a:rPr lang="ko-KR" altLang="en-US" sz="1400" dirty="0">
                <a:solidFill>
                  <a:srgbClr val="434B60"/>
                </a:solidFill>
                <a:latin typeface="Plus Jakarta Sans"/>
              </a:rPr>
              <a:t>개입니다</a:t>
            </a:r>
            <a:r>
              <a:rPr lang="en-US" altLang="ko-KR" sz="1400" dirty="0">
                <a:solidFill>
                  <a:srgbClr val="434B60"/>
                </a:solidFill>
                <a:latin typeface="Plus Jakarta Sans"/>
              </a:rPr>
              <a:t>.</a:t>
            </a:r>
            <a:endParaRPr sz="1400" b="0" dirty="0">
              <a:solidFill>
                <a:srgbClr val="434B60"/>
              </a:solidFill>
              <a:latin typeface="Plus Jakarta Sans"/>
            </a:endParaRPr>
          </a:p>
        </p:txBody>
      </p:sp>
      <p:sp>
        <p:nvSpPr>
          <p:cNvPr id="39" name="항목 3 번호"/>
          <p:cNvSpPr/>
          <p:nvPr/>
        </p:nvSpPr>
        <p:spPr>
          <a:xfrm>
            <a:off x="7482000" y="3617186"/>
            <a:ext cx="262000" cy="262000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40" name="항목 3 제목"/>
          <p:cNvSpPr txBox="1"/>
          <p:nvPr/>
        </p:nvSpPr>
        <p:spPr>
          <a:xfrm>
            <a:off x="7882000" y="3609186"/>
            <a:ext cx="36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1633"/>
                </a:solidFill>
                <a:latin typeface="Plus Jakarta Sans"/>
              </a:rPr>
              <a:t>5요소 비교 레이더</a:t>
            </a:r>
          </a:p>
        </p:txBody>
      </p:sp>
      <p:sp>
        <p:nvSpPr>
          <p:cNvPr id="41" name="항목 3 설명"/>
          <p:cNvSpPr txBox="1"/>
          <p:nvPr/>
        </p:nvSpPr>
        <p:spPr>
          <a:xfrm>
            <a:off x="7882000" y="3907186"/>
            <a:ext cx="3600000" cy="460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34B60"/>
                </a:solidFill>
                <a:latin typeface="Plus Jakarta Sans"/>
              </a:rPr>
              <a:t>저평가·수익성·성장성·안정성·주가 흐름을 업종 평균과 모양으로 비교합니다.</a:t>
            </a:r>
          </a:p>
        </p:txBody>
      </p:sp>
      <p:sp>
        <p:nvSpPr>
          <p:cNvPr id="42" name="항목 4 번호"/>
          <p:cNvSpPr/>
          <p:nvPr/>
        </p:nvSpPr>
        <p:spPr>
          <a:xfrm>
            <a:off x="7482000" y="4462054"/>
            <a:ext cx="262000" cy="262000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43" name="항목 4 제목"/>
          <p:cNvSpPr txBox="1"/>
          <p:nvPr/>
        </p:nvSpPr>
        <p:spPr>
          <a:xfrm>
            <a:off x="7882000" y="4454054"/>
            <a:ext cx="36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1633"/>
                </a:solidFill>
                <a:latin typeface="Plus Jakarta Sans"/>
              </a:rPr>
              <a:t>날씨로 보는 5요소</a:t>
            </a:r>
          </a:p>
        </p:txBody>
      </p:sp>
      <p:sp>
        <p:nvSpPr>
          <p:cNvPr id="44" name="항목 4 설명"/>
          <p:cNvSpPr txBox="1"/>
          <p:nvPr/>
        </p:nvSpPr>
        <p:spPr>
          <a:xfrm>
            <a:off x="7882000" y="4752054"/>
            <a:ext cx="3600000" cy="460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34B60"/>
                </a:solidFill>
                <a:latin typeface="Plus Jakarta Sans"/>
              </a:rPr>
              <a:t>60점 이상 맑음, 중간 구름, 40점 미만 비. 날씨만 봐도 됩니다.</a:t>
            </a:r>
          </a:p>
        </p:txBody>
      </p:sp>
      <p:sp>
        <p:nvSpPr>
          <p:cNvPr id="45" name="항목 5 번호"/>
          <p:cNvSpPr/>
          <p:nvPr/>
        </p:nvSpPr>
        <p:spPr>
          <a:xfrm>
            <a:off x="7482000" y="5314356"/>
            <a:ext cx="262000" cy="262000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46" name="항목 5 제목"/>
          <p:cNvSpPr txBox="1"/>
          <p:nvPr/>
        </p:nvSpPr>
        <p:spPr>
          <a:xfrm>
            <a:off x="7882000" y="5306356"/>
            <a:ext cx="36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1633"/>
                </a:solidFill>
                <a:latin typeface="Plus Jakarta Sans"/>
              </a:rPr>
              <a:t>계산 근거 보기</a:t>
            </a:r>
          </a:p>
        </p:txBody>
      </p:sp>
      <p:sp>
        <p:nvSpPr>
          <p:cNvPr id="47" name="항목 5 설명"/>
          <p:cNvSpPr txBox="1"/>
          <p:nvPr/>
        </p:nvSpPr>
        <p:spPr>
          <a:xfrm>
            <a:off x="7882000" y="5604356"/>
            <a:ext cx="3600000" cy="460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34B60"/>
                </a:solidFill>
                <a:latin typeface="Plus Jakarta Sans"/>
              </a:rPr>
              <a:t>점수가 왜 그렇게 나왔는지 항목별로 펼쳐 확인합니다.</a:t>
            </a:r>
          </a:p>
        </p:txBody>
      </p:sp>
      <p:sp>
        <p:nvSpPr>
          <p:cNvPr id="48" name="구현 메모"/>
          <p:cNvSpPr txBox="1"/>
          <p:nvPr/>
        </p:nvSpPr>
        <p:spPr>
          <a:xfrm>
            <a:off x="813816" y="5739082"/>
            <a:ext cx="6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>
                <a:solidFill>
                  <a:srgbClr val="5B6377"/>
                </a:solidFill>
                <a:latin typeface="Plus Jakarta Sans"/>
              </a:rPr>
              <a:t>구현: 점수는 수집 후 미리 계산해 DB에 저장하고, 화면은 조회만 합니다</a:t>
            </a:r>
          </a:p>
        </p:txBody>
      </p:sp>
    </p:spTree>
    <p:extLst>
      <p:ext uri="{BB962C8B-B14F-4D97-AF65-F5344CB8AC3E}">
        <p14:creationId xmlns:p14="http://schemas.microsoft.com/office/powerpoint/2010/main" val="2860303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8354C-5953-F312-CFBE-87B89427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2C8976-D563-DB8B-6F35-6ABCF9950A5B}"/>
              </a:ext>
            </a:extLst>
          </p:cNvPr>
          <p:cNvSpPr txBox="1"/>
          <p:nvPr/>
        </p:nvSpPr>
        <p:spPr>
          <a:xfrm>
            <a:off x="813816" y="538768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34B3"/>
                </a:solidFill>
                <a:latin typeface="Plus Jakarta Sans"/>
              </a:rPr>
              <a:t>03 · 주요 기능 구현 · 종목 상세 (3/3)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F5FCA-5373-B1DF-B730-28ACAFB672C7}"/>
              </a:ext>
            </a:extLst>
          </p:cNvPr>
          <p:cNvSpPr txBox="1"/>
          <p:nvPr/>
        </p:nvSpPr>
        <p:spPr>
          <a:xfrm>
            <a:off x="813816" y="932688"/>
            <a:ext cx="10698480" cy="4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950" b="1" i="0" dirty="0">
                <a:solidFill>
                  <a:srgbClr val="0D1633"/>
                </a:solidFill>
                <a:latin typeface="Plus Jakarta Sans"/>
              </a:rPr>
              <a:t>근거는 아래에서 직접 확인</a:t>
            </a:r>
            <a:endParaRPr sz="2950" b="1" i="0" dirty="0">
              <a:solidFill>
                <a:srgbClr val="0D1633"/>
              </a:solidFill>
              <a:latin typeface="Plus Jakarta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32C64-3174-554C-7872-0DEA3375DBC5}"/>
              </a:ext>
            </a:extLst>
          </p:cNvPr>
          <p:cNvSpPr txBox="1"/>
          <p:nvPr/>
        </p:nvSpPr>
        <p:spPr>
          <a:xfrm>
            <a:off x="841248" y="1481328"/>
            <a:ext cx="106070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34B60"/>
                </a:solidFill>
                <a:latin typeface="Plus Jakarta Sans"/>
              </a:rPr>
              <a:t>점수를 믿기 어려울 때, 숫자를 쉬운 문장으로 풀어 쓴 지표와 재무 추이를 펼쳐 볼 수 있습니다.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9CF138-0F5B-042F-5BE9-D6250052FC52}"/>
              </a:ext>
            </a:extLst>
          </p:cNvPr>
          <p:cNvSpPr txBox="1"/>
          <p:nvPr/>
        </p:nvSpPr>
        <p:spPr>
          <a:xfrm>
            <a:off x="813816" y="6236208"/>
            <a:ext cx="5230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7"/>
                </a:solidFill>
                <a:latin typeface="Plus Jakarta Sans"/>
              </a:rPr>
              <a:t>StockMind · 팀 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7EE02F-9626-DA11-EC56-57666AB4CD85}"/>
              </a:ext>
            </a:extLst>
          </p:cNvPr>
          <p:cNvSpPr txBox="1"/>
          <p:nvPr/>
        </p:nvSpPr>
        <p:spPr>
          <a:xfrm>
            <a:off x="10369347" y="6236208"/>
            <a:ext cx="1316736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5B6377"/>
                </a:solidFill>
                <a:latin typeface="Plus Jakarta Sans"/>
              </a:rPr>
              <a:t>10</a:t>
            </a:r>
          </a:p>
        </p:txBody>
      </p:sp>
      <p:pic>
        <p:nvPicPr>
          <p:cNvPr id="26" name="종목 상세 - 핵심 정보와 투자 지표" descr="핵심 정보: 시가총액 1,236조원, PER·PBR 경쟁 평균 대비. 한눈에 보는 투자 지표: 수익성, 주가 흐름, 위험을 쉬운 문장으로 요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30000"/>
            <a:ext cx="6400000" cy="2480988"/>
          </a:xfrm>
          <a:prstGeom prst="rect">
            <a:avLst/>
          </a:prstGeom>
        </p:spPr>
      </p:pic>
      <p:pic>
        <p:nvPicPr>
          <p:cNvPr id="27" name="종목 상세 - 재무 추이" descr="연간 매출, 영업이익, 순이익 막대 그래프 FY2021부터 FY20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4470987"/>
            <a:ext cx="6400000" cy="1430123"/>
          </a:xfrm>
          <a:prstGeom prst="rect">
            <a:avLst/>
          </a:prstGeom>
        </p:spPr>
      </p:pic>
      <p:sp>
        <p:nvSpPr>
          <p:cNvPr id="28" name="마커 1"/>
          <p:cNvSpPr/>
          <p:nvPr/>
        </p:nvSpPr>
        <p:spPr>
          <a:xfrm>
            <a:off x="835235" y="1911913"/>
            <a:ext cx="210000" cy="210000"/>
          </a:xfrm>
          <a:prstGeom prst="ellipse">
            <a:avLst/>
          </a:prstGeom>
          <a:solidFill>
            <a:srgbClr val="1034B3"/>
          </a:solidFill>
          <a:ln w="222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9" name="마커 2"/>
          <p:cNvSpPr/>
          <p:nvPr/>
        </p:nvSpPr>
        <p:spPr>
          <a:xfrm>
            <a:off x="858939" y="2950925"/>
            <a:ext cx="210000" cy="210000"/>
          </a:xfrm>
          <a:prstGeom prst="ellipse">
            <a:avLst/>
          </a:prstGeom>
          <a:solidFill>
            <a:srgbClr val="1034B3"/>
          </a:solidFill>
          <a:ln w="222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30" name="마커 3"/>
          <p:cNvSpPr/>
          <p:nvPr/>
        </p:nvSpPr>
        <p:spPr>
          <a:xfrm>
            <a:off x="858939" y="4512159"/>
            <a:ext cx="210000" cy="210000"/>
          </a:xfrm>
          <a:prstGeom prst="ellipse">
            <a:avLst/>
          </a:prstGeom>
          <a:solidFill>
            <a:srgbClr val="1034B3"/>
          </a:solidFill>
          <a:ln w="22225">
            <a:solidFill>
              <a:srgbClr val="FFFFFF"/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31" name="항목 1 번호"/>
          <p:cNvSpPr/>
          <p:nvPr/>
        </p:nvSpPr>
        <p:spPr>
          <a:xfrm>
            <a:off x="7620000" y="1990000"/>
            <a:ext cx="262000" cy="262000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32" name="항목 1 제목"/>
          <p:cNvSpPr txBox="1"/>
          <p:nvPr/>
        </p:nvSpPr>
        <p:spPr>
          <a:xfrm>
            <a:off x="8020000" y="1982000"/>
            <a:ext cx="36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1633"/>
                </a:solidFill>
                <a:latin typeface="Plus Jakarta Sans"/>
              </a:rPr>
              <a:t>핵심 정보</a:t>
            </a:r>
          </a:p>
        </p:txBody>
      </p:sp>
      <p:sp>
        <p:nvSpPr>
          <p:cNvPr id="33" name="항목 1 설명"/>
          <p:cNvSpPr txBox="1"/>
          <p:nvPr/>
        </p:nvSpPr>
        <p:spPr>
          <a:xfrm>
            <a:off x="8020000" y="2280000"/>
            <a:ext cx="3600000" cy="460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34B60"/>
                </a:solidFill>
                <a:latin typeface="Plus Jakarta Sans"/>
              </a:rPr>
              <a:t>시가총액과 PER·PBR을 경쟁 평균과 비교해 '62% 낮음'처럼 보여 줍니다.</a:t>
            </a:r>
          </a:p>
        </p:txBody>
      </p:sp>
      <p:sp>
        <p:nvSpPr>
          <p:cNvPr id="34" name="항목 2 번호"/>
          <p:cNvSpPr/>
          <p:nvPr/>
        </p:nvSpPr>
        <p:spPr>
          <a:xfrm>
            <a:off x="7620000" y="3010000"/>
            <a:ext cx="262000" cy="262000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35" name="항목 2 제목"/>
          <p:cNvSpPr txBox="1"/>
          <p:nvPr/>
        </p:nvSpPr>
        <p:spPr>
          <a:xfrm>
            <a:off x="8020000" y="3002000"/>
            <a:ext cx="36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1633"/>
                </a:solidFill>
                <a:latin typeface="Plus Jakarta Sans"/>
              </a:rPr>
              <a:t>한눈에 보는 투자 지표</a:t>
            </a:r>
          </a:p>
        </p:txBody>
      </p:sp>
      <p:sp>
        <p:nvSpPr>
          <p:cNvPr id="36" name="항목 2 설명"/>
          <p:cNvSpPr txBox="1"/>
          <p:nvPr/>
        </p:nvSpPr>
        <p:spPr>
          <a:xfrm>
            <a:off x="8020000" y="3300000"/>
            <a:ext cx="3600000" cy="460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34B60"/>
                </a:solidFill>
                <a:latin typeface="Plus Jakarta Sans"/>
              </a:rPr>
              <a:t>수익성·주가 흐름·위험을 '경쟁 평균보다 덜 버는 편'처럼 쉬운 문장으로 풀었습니다.</a:t>
            </a:r>
          </a:p>
        </p:txBody>
      </p:sp>
      <p:sp>
        <p:nvSpPr>
          <p:cNvPr id="37" name="항목 3 번호"/>
          <p:cNvSpPr/>
          <p:nvPr/>
        </p:nvSpPr>
        <p:spPr>
          <a:xfrm>
            <a:off x="7620000" y="4030000"/>
            <a:ext cx="262000" cy="262000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38" name="항목 3 제목"/>
          <p:cNvSpPr txBox="1"/>
          <p:nvPr/>
        </p:nvSpPr>
        <p:spPr>
          <a:xfrm>
            <a:off x="8020000" y="4022000"/>
            <a:ext cx="36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1633"/>
                </a:solidFill>
                <a:latin typeface="Plus Jakarta Sans"/>
              </a:rPr>
              <a:t>재무 추이</a:t>
            </a:r>
          </a:p>
        </p:txBody>
      </p:sp>
      <p:sp>
        <p:nvSpPr>
          <p:cNvPr id="39" name="항목 3 설명"/>
          <p:cNvSpPr txBox="1"/>
          <p:nvPr/>
        </p:nvSpPr>
        <p:spPr>
          <a:xfrm>
            <a:off x="8020000" y="4320000"/>
            <a:ext cx="3600000" cy="460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34B60"/>
                </a:solidFill>
                <a:latin typeface="Plus Jakarta Sans"/>
              </a:rPr>
              <a:t>연간 매출·영업이익·순이익을 그래프와 표로 확인합니다.</a:t>
            </a:r>
          </a:p>
        </p:txBody>
      </p:sp>
      <p:sp>
        <p:nvSpPr>
          <p:cNvPr id="41" name="구현 메모"/>
          <p:cNvSpPr txBox="1"/>
          <p:nvPr/>
        </p:nvSpPr>
        <p:spPr>
          <a:xfrm>
            <a:off x="7620000" y="5600000"/>
            <a:ext cx="40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 err="1">
                <a:solidFill>
                  <a:srgbClr val="5B6377"/>
                </a:solidFill>
                <a:latin typeface="Plus Jakarta Sans"/>
              </a:rPr>
              <a:t>구현</a:t>
            </a:r>
            <a:r>
              <a:rPr sz="1100" b="0" dirty="0">
                <a:solidFill>
                  <a:srgbClr val="5B6377"/>
                </a:solidFill>
                <a:latin typeface="Plus Jakarta Sans"/>
              </a:rPr>
              <a:t>: </a:t>
            </a:r>
            <a:r>
              <a:rPr sz="1100" b="0" dirty="0" err="1">
                <a:solidFill>
                  <a:srgbClr val="5B6377"/>
                </a:solidFill>
                <a:latin typeface="Plus Jakarta Sans"/>
              </a:rPr>
              <a:t>차트·분석·재무·공시</a:t>
            </a:r>
            <a:r>
              <a:rPr sz="1100" b="0" dirty="0">
                <a:solidFill>
                  <a:srgbClr val="5B6377"/>
                </a:solidFill>
                <a:latin typeface="Plus Jakarta Sans"/>
              </a:rPr>
              <a:t> </a:t>
            </a:r>
            <a:r>
              <a:rPr sz="1100" b="0" dirty="0" err="1">
                <a:solidFill>
                  <a:srgbClr val="5B6377"/>
                </a:solidFill>
                <a:latin typeface="Plus Jakarta Sans"/>
              </a:rPr>
              <a:t>조회</a:t>
            </a:r>
            <a:r>
              <a:rPr sz="1100" b="0" dirty="0">
                <a:solidFill>
                  <a:srgbClr val="5B6377"/>
                </a:solidFill>
                <a:latin typeface="Plus Jakarta Sans"/>
              </a:rPr>
              <a:t> </a:t>
            </a:r>
            <a:r>
              <a:rPr sz="1100" b="0" dirty="0" err="1">
                <a:solidFill>
                  <a:srgbClr val="5B6377"/>
                </a:solidFill>
                <a:latin typeface="Plus Jakarta Sans"/>
              </a:rPr>
              <a:t>API를</a:t>
            </a:r>
            <a:r>
              <a:rPr sz="1100" b="0" dirty="0">
                <a:solidFill>
                  <a:srgbClr val="5B6377"/>
                </a:solidFill>
                <a:latin typeface="Plus Jakarta Sans"/>
              </a:rPr>
              <a:t> </a:t>
            </a:r>
            <a:r>
              <a:rPr sz="1100" b="0" dirty="0" err="1">
                <a:solidFill>
                  <a:srgbClr val="5B6377"/>
                </a:solidFill>
                <a:latin typeface="Plus Jakarta Sans"/>
              </a:rPr>
              <a:t>화면</a:t>
            </a:r>
            <a:r>
              <a:rPr sz="1100" b="0" dirty="0">
                <a:solidFill>
                  <a:srgbClr val="5B6377"/>
                </a:solidFill>
                <a:latin typeface="Plus Jakarta Sans"/>
              </a:rPr>
              <a:t> </a:t>
            </a:r>
            <a:r>
              <a:rPr sz="1100" b="0" dirty="0" err="1">
                <a:solidFill>
                  <a:srgbClr val="5B6377"/>
                </a:solidFill>
                <a:latin typeface="Plus Jakarta Sans"/>
              </a:rPr>
              <a:t>영역별로</a:t>
            </a:r>
            <a:r>
              <a:rPr sz="1100" b="0" dirty="0">
                <a:solidFill>
                  <a:srgbClr val="5B6377"/>
                </a:solidFill>
                <a:latin typeface="Plus Jakarta Sans"/>
              </a:rPr>
              <a:t> </a:t>
            </a:r>
            <a:r>
              <a:rPr sz="1100" b="0" dirty="0" err="1">
                <a:solidFill>
                  <a:srgbClr val="5B6377"/>
                </a:solidFill>
                <a:latin typeface="Plus Jakarta Sans"/>
              </a:rPr>
              <a:t>연결</a:t>
            </a:r>
            <a:endParaRPr sz="1100" b="0" dirty="0">
              <a:solidFill>
                <a:srgbClr val="5B6377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981728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537450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034B3"/>
                </a:solidFill>
                <a:latin typeface="Plus Jakarta Sans"/>
              </a:rPr>
              <a:t>03 ·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주요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기능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구현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·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모의</a:t>
            </a:r>
            <a:r>
              <a:rPr sz="1600" b="1" i="0" dirty="0">
                <a:solidFill>
                  <a:srgbClr val="1034B3"/>
                </a:solidFill>
                <a:latin typeface="Plus Jakarta Sans"/>
              </a:rPr>
              <a:t> </a:t>
            </a:r>
            <a:r>
              <a:rPr sz="1600" b="1" i="0" dirty="0" err="1">
                <a:solidFill>
                  <a:srgbClr val="1034B3"/>
                </a:solidFill>
                <a:latin typeface="Plus Jakarta Sans"/>
              </a:rPr>
              <a:t>포트폴리오</a:t>
            </a:r>
            <a:endParaRPr sz="1600" b="1" i="0" dirty="0">
              <a:solidFill>
                <a:srgbClr val="1034B3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3816" y="932688"/>
            <a:ext cx="10698480" cy="4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950" b="1" i="0" dirty="0">
                <a:solidFill>
                  <a:srgbClr val="0D1633"/>
                </a:solidFill>
                <a:latin typeface="Plus Jakarta Sans"/>
              </a:rPr>
              <a:t>모의 포트폴리오로 투자 밑그림 구상해보기</a:t>
            </a:r>
            <a:endParaRPr sz="2950" b="1" i="0" dirty="0">
              <a:solidFill>
                <a:srgbClr val="0D1633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" y="1481328"/>
            <a:ext cx="106070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434B60"/>
                </a:solidFill>
                <a:latin typeface="Plus Jakarta Sans"/>
              </a:rPr>
              <a:t>종목을 담아 보고 비중과 손익을 비교하는 모의 투자 계산기입니다.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54112" y="1956816"/>
            <a:ext cx="292608" cy="292608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54112" y="1968703"/>
            <a:ext cx="2926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4736" y="1952244"/>
            <a:ext cx="3191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0D1633"/>
                </a:solidFill>
                <a:latin typeface="Plus Jakarta Sans"/>
              </a:rPr>
              <a:t>포트폴리오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4736" y="2267712"/>
            <a:ext cx="3191256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34B60"/>
                </a:solidFill>
                <a:latin typeface="Plus Jakarta Sans"/>
              </a:rPr>
              <a:t>여러 포트폴리오를 만들고 이름·시드를 수정하거나 삭제합니다. 사용 금액과 잔여 현금, 종목 비중을 한눈에 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54112" y="2999232"/>
            <a:ext cx="292608" cy="292608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54112" y="3011119"/>
            <a:ext cx="2926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994660"/>
            <a:ext cx="3191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0D1633"/>
                </a:solidFill>
                <a:latin typeface="Plus Jakarta Sans"/>
              </a:rPr>
              <a:t>원하는 방식으로 종목 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3310127"/>
            <a:ext cx="3191256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34B60"/>
                </a:solidFill>
                <a:latin typeface="Plus Jakarta Sans"/>
              </a:rPr>
              <a:t>수량·투입 금액·시드 비중 중 하나로 입력하고 예상 수량을 미리 확인합니다. 시드가 부족하면 최대 수량을 안내합니다.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4112" y="4041648"/>
            <a:ext cx="292608" cy="292608"/>
          </a:xfrm>
          <a:prstGeom prst="roundRect">
            <a:avLst/>
          </a:prstGeom>
          <a:solidFill>
            <a:srgbClr val="103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54112" y="4053535"/>
            <a:ext cx="2926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4037076"/>
            <a:ext cx="3191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0D1633"/>
                </a:solidFill>
                <a:latin typeface="Plus Jakarta Sans"/>
              </a:rPr>
              <a:t>가격 효과와 환율 효과 분리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4352544"/>
            <a:ext cx="3191256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34B60"/>
                </a:solidFill>
                <a:latin typeface="Plus Jakarta Sans"/>
              </a:rPr>
              <a:t>담는 순간의 가격·환율·날짜를 저장해 평가손익을 가격 변화와 환율 변화로 나눠 계산합니다.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5093208"/>
            <a:ext cx="3657600" cy="768096"/>
          </a:xfrm>
          <a:prstGeom prst="roundRect">
            <a:avLst/>
          </a:prstGeom>
          <a:solidFill>
            <a:srgbClr val="DC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523036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34B3"/>
                </a:solidFill>
                <a:latin typeface="Plus Jakarta Sans"/>
              </a:rPr>
              <a:t>이렇게 만들었습니다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464098"/>
            <a:ext cx="3291840" cy="298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 dirty="0" err="1">
                <a:solidFill>
                  <a:srgbClr val="434B60"/>
                </a:solidFill>
                <a:latin typeface="Plus Jakarta Sans"/>
              </a:rPr>
              <a:t>담기·수정·삭제를</a:t>
            </a:r>
            <a:r>
              <a:rPr sz="969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lang="ko-KR" altLang="en-US" sz="969" b="0" i="0" dirty="0">
                <a:solidFill>
                  <a:srgbClr val="434B60"/>
                </a:solidFill>
                <a:latin typeface="Plus Jakarta Sans"/>
              </a:rPr>
              <a:t>통</a:t>
            </a:r>
            <a:r>
              <a:rPr sz="969" b="0" i="0" dirty="0">
                <a:solidFill>
                  <a:srgbClr val="434B60"/>
                </a:solidFill>
                <a:latin typeface="Plus Jakarta Sans"/>
              </a:rPr>
              <a:t>해 </a:t>
            </a:r>
            <a:r>
              <a:rPr sz="969" b="0" i="0" dirty="0" err="1">
                <a:solidFill>
                  <a:srgbClr val="434B60"/>
                </a:solidFill>
                <a:latin typeface="Plus Jakarta Sans"/>
              </a:rPr>
              <a:t>시나리오를</a:t>
            </a:r>
            <a:r>
              <a:rPr lang="en-US" sz="969" b="0" i="0" dirty="0">
                <a:solidFill>
                  <a:srgbClr val="434B60"/>
                </a:solidFill>
                <a:latin typeface="Plus Jakarta Sans"/>
              </a:rPr>
              <a:t> </a:t>
            </a:r>
            <a:r>
              <a:rPr lang="ko-KR" altLang="en-US" sz="969" b="0" i="0" dirty="0">
                <a:solidFill>
                  <a:srgbClr val="434B60"/>
                </a:solidFill>
                <a:latin typeface="Plus Jakarta Sans"/>
              </a:rPr>
              <a:t>구상하는 기능을 </a:t>
            </a:r>
            <a:endParaRPr lang="en-US" altLang="ko-KR" sz="969" b="0" i="0" dirty="0">
              <a:solidFill>
                <a:srgbClr val="434B60"/>
              </a:solidFill>
              <a:latin typeface="Plus Jakarta San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969" dirty="0">
                <a:solidFill>
                  <a:srgbClr val="434B60"/>
                </a:solidFill>
                <a:latin typeface="Plus Jakarta Sans"/>
              </a:rPr>
              <a:t>만들었습니다</a:t>
            </a:r>
            <a:r>
              <a:rPr sz="969" b="0" i="0" dirty="0">
                <a:solidFill>
                  <a:srgbClr val="434B60"/>
                </a:solidFill>
                <a:latin typeface="Plus Jakarta San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6236208"/>
            <a:ext cx="5230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377"/>
                </a:solidFill>
                <a:latin typeface="Plus Jakarta Sans"/>
              </a:rPr>
              <a:t>StockMind · 팀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236208"/>
            <a:ext cx="1316736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150" b="0" i="0" dirty="0">
                <a:solidFill>
                  <a:srgbClr val="5B6377"/>
                </a:solidFill>
                <a:latin typeface="Plus Jakarta Sans"/>
              </a:rPr>
              <a:t>11</a:t>
            </a:r>
            <a:endParaRPr sz="1150" b="0" i="0" dirty="0">
              <a:solidFill>
                <a:srgbClr val="5B6377"/>
              </a:solidFill>
              <a:latin typeface="Plus Jakarta Sans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4D14B33-F00F-5ACD-2AB0-19CF21024A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73" b="42800"/>
          <a:stretch>
            <a:fillRect/>
          </a:stretch>
        </p:blipFill>
        <p:spPr>
          <a:xfrm>
            <a:off x="807721" y="1865375"/>
            <a:ext cx="6544220" cy="411480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3789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· REQUIREMENTS · 주요 기능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ko-KR" altLang="en-US" b="1" kern="0" spc="-50" dirty="0"/>
              <a:t>요구 사항 정의 </a:t>
            </a:r>
            <a:r>
              <a:rPr lang="en-US" altLang="ko-KR" b="1" kern="0" spc="-50" dirty="0"/>
              <a:t>- </a:t>
            </a:r>
            <a:r>
              <a:rPr lang="en-US" sz="3200" b="1" i="0" kern="0" spc="-50" dirty="0" err="1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기능별</a:t>
            </a: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3200" b="1" i="0" kern="0" spc="-50" dirty="0" err="1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구현</a:t>
            </a: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4441"/>
            <a:ext cx="10566400" cy="2917627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74441"/>
            <a:ext cx="10566400" cy="2917627"/>
          </a:xfrm>
          <a:custGeom>
            <a:avLst/>
            <a:gdLst/>
            <a:ahLst/>
            <a:cxnLst/>
            <a:rect l="l" t="t" r="r" b="b"/>
            <a:pathLst>
              <a:path w="10566400" h="2917627">
                <a:moveTo>
                  <a:pt x="177800" y="2917627"/>
                </a:moveTo>
                <a:lnTo>
                  <a:pt x="177800" y="2917627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lnTo>
                  <a:pt x="10388600" y="0"/>
                </a:lnTo>
                <a:arcTo wR="177800" hR="177800" stAng="16200000" swAng="5400000"/>
                <a:lnTo>
                  <a:pt x="10566400" y="177800"/>
                </a:lnTo>
                <a:arcTo wR="177800" hR="165100" stAng="0" swAng="-5400000"/>
                <a:lnTo>
                  <a:pt x="177800" y="12700"/>
                </a:lnTo>
                <a:arcTo wR="165100" hR="165100" stAng="16200000" swAng="-5400000"/>
                <a:lnTo>
                  <a:pt x="12700" y="2739827"/>
                </a:lnTo>
                <a:arcTo wR="165100" hR="1778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1003300" y="1988741"/>
          <a:ext cx="10198100" cy="2701727"/>
        </p:xfrm>
        <a:graphic>
          <a:graphicData uri="http://schemas.openxmlformats.org/drawingml/2006/table">
            <a:tbl>
              <a:tblPr/>
              <a:tblGrid>
                <a:gridCol w="2039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7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화면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주요 기능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데이터 처리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상태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대시보드 홈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지수·환율, 시장 심리, 섹터 히트맵, 주목 종목 TOP 5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조회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8A5B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완료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주식 리스트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거래량·시가총액 순위, 검색·그룹·섹터 필터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조회·검색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8A5B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완료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종목 상세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가격 차트, 매력도, 재무·공시, 경쟁 종목 비교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조회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8A5B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완료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관심종목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추가 · 메모·목표가 수정 · 순서 변경 · 삭제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CRUD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8A5B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완료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모의 포트폴리오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시드 설정, 담기·수정·삭제, 가격·환율 효과 손익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CRUD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8A5B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완료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로그인 · 장중 시세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JWT 로그인, 실시간에 가까운 시세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D163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—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B637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2차 예정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5046067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로그인 대신 브라우저별 게스트 세션으로 사용자를 나누고, 남의 관심종목·포트폴리오는 404로 막습니다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4039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· </a:t>
            </a:r>
            <a:r>
              <a:rPr lang="en-US" sz="1600" b="1" kern="0" spc="50" dirty="0" err="1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시스템</a:t>
            </a:r>
            <a:r>
              <a:rPr lang="en-US" sz="16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ko-KR" altLang="en-US" sz="16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동작 흐름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ko-KR" altLang="en-US" sz="3200" b="1" dirty="0"/>
              <a:t>데이터 수집부터 화면 </a:t>
            </a:r>
            <a:r>
              <a:rPr lang="ko-KR" altLang="en-US" b="1" dirty="0"/>
              <a:t>출력까지 흐름</a:t>
            </a:r>
            <a:endParaRPr lang="en-US" sz="3200" b="1" dirty="0"/>
          </a:p>
        </p:txBody>
      </p:sp>
      <p:sp>
        <p:nvSpPr>
          <p:cNvPr id="4" name="Shape 2"/>
          <p:cNvSpPr/>
          <p:nvPr/>
        </p:nvSpPr>
        <p:spPr>
          <a:xfrm>
            <a:off x="812800" y="1874441"/>
            <a:ext cx="1706860" cy="1552329"/>
          </a:xfrm>
          <a:prstGeom prst="roundRect">
            <a:avLst>
              <a:gd name="adj" fmla="val 1127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052241"/>
            <a:ext cx="1402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외부 소스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0600" y="2329061"/>
            <a:ext cx="1402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데이터 4곳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621161"/>
            <a:ext cx="1402060" cy="689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pykrx · yfinance OpenDART · SEC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 KIS (국내 예비)</a:t>
            </a:r>
            <a:endParaRPr lang="en-US" sz="1200" dirty="0"/>
          </a:p>
        </p:txBody>
      </p:sp>
      <p:pic>
        <p:nvPicPr>
          <p:cNvPr id="8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21260" y="2599805"/>
            <a:ext cx="304800" cy="10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27660" y="1874441"/>
            <a:ext cx="1706959" cy="1552329"/>
          </a:xfrm>
          <a:prstGeom prst="roundRect">
            <a:avLst>
              <a:gd name="adj" fmla="val 11279"/>
            </a:avLst>
          </a:prstGeom>
          <a:solidFill>
            <a:srgbClr val="DCE4FA"/>
          </a:solidFill>
          <a:ln/>
        </p:spPr>
      </p:sp>
      <p:sp>
        <p:nvSpPr>
          <p:cNvPr id="10" name="Text 7"/>
          <p:cNvSpPr/>
          <p:nvPr/>
        </p:nvSpPr>
        <p:spPr>
          <a:xfrm>
            <a:off x="3205460" y="2052241"/>
            <a:ext cx="14021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수집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5460" y="2329061"/>
            <a:ext cx="14021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ingest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05460" y="2621161"/>
            <a:ext cx="14021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전처리 · 이상 행 격리 · upsert</a:t>
            </a:r>
            <a:endParaRPr lang="en-US" sz="1200" dirty="0"/>
          </a:p>
        </p:txBody>
      </p:sp>
      <p:pic>
        <p:nvPicPr>
          <p:cNvPr id="13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36220" y="2599805"/>
            <a:ext cx="304800" cy="101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42620" y="1874441"/>
            <a:ext cx="1706860" cy="1552329"/>
          </a:xfrm>
          <a:prstGeom prst="roundRect">
            <a:avLst>
              <a:gd name="adj" fmla="val 11279"/>
            </a:avLst>
          </a:prstGeom>
          <a:solidFill>
            <a:srgbClr val="1034B3"/>
          </a:solidFill>
          <a:ln/>
        </p:spPr>
      </p:sp>
      <p:sp>
        <p:nvSpPr>
          <p:cNvPr id="15" name="Text 11"/>
          <p:cNvSpPr/>
          <p:nvPr/>
        </p:nvSpPr>
        <p:spPr>
          <a:xfrm>
            <a:off x="5420420" y="2052241"/>
            <a:ext cx="1402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저장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20420" y="2329061"/>
            <a:ext cx="1402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420420" y="2621161"/>
            <a:ext cx="1402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테이블 25 · VIEW 3</a:t>
            </a:r>
            <a:endParaRPr lang="en-US" sz="1200" dirty="0"/>
          </a:p>
        </p:txBody>
      </p:sp>
      <p:pic>
        <p:nvPicPr>
          <p:cNvPr id="18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51080" y="2599805"/>
            <a:ext cx="304800" cy="101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57480" y="1874441"/>
            <a:ext cx="1706860" cy="1552329"/>
          </a:xfrm>
          <a:prstGeom prst="roundRect">
            <a:avLst>
              <a:gd name="adj" fmla="val 11279"/>
            </a:avLst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7635280" y="2052241"/>
            <a:ext cx="1402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조회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635280" y="2329061"/>
            <a:ext cx="1402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FastAPI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635280" y="2621161"/>
            <a:ext cx="14020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/api/v1 조회·분석·CRUD</a:t>
            </a:r>
            <a:endParaRPr lang="en-US" sz="1200" dirty="0"/>
          </a:p>
        </p:txBody>
      </p:sp>
      <p:pic>
        <p:nvPicPr>
          <p:cNvPr id="23" name="Image 3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65940" y="2599805"/>
            <a:ext cx="304800" cy="101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72340" y="1874441"/>
            <a:ext cx="1706860" cy="1552329"/>
          </a:xfrm>
          <a:prstGeom prst="roundRect">
            <a:avLst>
              <a:gd name="adj" fmla="val 11279"/>
            </a:avLst>
          </a:prstGeom>
          <a:solidFill>
            <a:srgbClr val="FFFFFF"/>
          </a:solidFill>
          <a:ln/>
        </p:spPr>
      </p:sp>
      <p:sp>
        <p:nvSpPr>
          <p:cNvPr id="25" name="Text 19"/>
          <p:cNvSpPr/>
          <p:nvPr/>
        </p:nvSpPr>
        <p:spPr>
          <a:xfrm>
            <a:off x="9850140" y="2052241"/>
            <a:ext cx="1402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화면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850140" y="2329061"/>
            <a:ext cx="1402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브라우저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850140" y="2621161"/>
            <a:ext cx="14020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HTML · CSS · JS Chart.js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12800" y="3553770"/>
            <a:ext cx="3911600" cy="365720"/>
          </a:xfrm>
          <a:prstGeom prst="roundRect">
            <a:avLst>
              <a:gd name="adj" fmla="val 50000"/>
            </a:avLst>
          </a:prstGeom>
          <a:solidFill>
            <a:srgbClr val="DCE4FA"/>
          </a:solidFill>
          <a:ln/>
        </p:spPr>
        <p:txBody>
          <a:bodyPr wrap="square" lIns="70902" tIns="22642" rIns="70902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ko-KR" alt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수집</a:t>
            </a: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 </a:t>
            </a:r>
            <a:r>
              <a:rPr lang="en-US" sz="1200" b="1" dirty="0" err="1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외부</a:t>
            </a: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호출은 여기서만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442200" y="3553770"/>
            <a:ext cx="3937000" cy="36572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/>
        </p:spPr>
        <p:txBody>
          <a:bodyPr wrap="square" lIns="70521" tIns="22642" rIns="705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ko-KR" altLang="en-US" sz="12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출력</a:t>
            </a:r>
            <a:r>
              <a:rPr lang="en-US" sz="12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· 요청마다, DB만 읽는다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12800" y="4173490"/>
            <a:ext cx="3420467" cy="1092200"/>
          </a:xfrm>
          <a:prstGeom prst="roundRect">
            <a:avLst>
              <a:gd name="adj" fmla="val 13953"/>
            </a:avLst>
          </a:prstGeom>
          <a:solidFill>
            <a:srgbClr val="F6F7F7"/>
          </a:solidFill>
          <a:ln/>
        </p:spPr>
      </p:sp>
      <p:sp>
        <p:nvSpPr>
          <p:cNvPr id="31" name="Text 25"/>
          <p:cNvSpPr/>
          <p:nvPr/>
        </p:nvSpPr>
        <p:spPr>
          <a:xfrm>
            <a:off x="1016000" y="4351290"/>
            <a:ext cx="31044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빠르고 안전한 화면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016000" y="4630690"/>
            <a:ext cx="310448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외부 API가 느리거나 막혀도 화면은 DB 값으로 바로 뜬다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385667" y="4173490"/>
            <a:ext cx="3420566" cy="1092200"/>
          </a:xfrm>
          <a:prstGeom prst="roundRect">
            <a:avLst>
              <a:gd name="adj" fmla="val 13953"/>
            </a:avLst>
          </a:prstGeom>
          <a:solidFill>
            <a:srgbClr val="F6F7F7"/>
          </a:solidFill>
          <a:ln/>
        </p:spPr>
      </p:sp>
      <p:sp>
        <p:nvSpPr>
          <p:cNvPr id="34" name="Text 28"/>
          <p:cNvSpPr/>
          <p:nvPr/>
        </p:nvSpPr>
        <p:spPr>
          <a:xfrm>
            <a:off x="4588867" y="4351290"/>
            <a:ext cx="31045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다시 넣어도 그대로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4588867" y="4630690"/>
            <a:ext cx="310459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upsert로 재적재해도 행 수가 늘지 </a:t>
            </a:r>
            <a:r>
              <a:rPr lang="en-US" sz="1200" dirty="0" err="1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않는다</a:t>
            </a: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(멱등)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958634" y="4173490"/>
            <a:ext cx="3420566" cy="1092200"/>
          </a:xfrm>
          <a:prstGeom prst="roundRect">
            <a:avLst>
              <a:gd name="adj" fmla="val 13953"/>
            </a:avLst>
          </a:prstGeom>
          <a:solidFill>
            <a:srgbClr val="F6F7F7"/>
          </a:solidFill>
          <a:ln/>
        </p:spPr>
      </p:sp>
      <p:sp>
        <p:nvSpPr>
          <p:cNvPr id="37" name="Text 31"/>
          <p:cNvSpPr/>
          <p:nvPr/>
        </p:nvSpPr>
        <p:spPr>
          <a:xfrm>
            <a:off x="8161834" y="4351290"/>
            <a:ext cx="31045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한 번만 실행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8161834" y="4630690"/>
            <a:ext cx="310459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1시간 TTL + DB </a:t>
            </a:r>
            <a:r>
              <a:rPr lang="en-US" sz="1200" dirty="0" err="1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잠금으로</a:t>
            </a: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중복 호출 방지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812800" y="551969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Python 3.12 · FastAPI · SQLAlchemy 2 · PostgreSQL 16 · Docker Compose · pytest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 · DATABASE · ERD 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>
              <a:lnSpc>
                <a:spcPts val="3680"/>
              </a:lnSpc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종목을 가운데 두고, 사용자 </a:t>
            </a:r>
            <a:r>
              <a:rPr lang="en-US" sz="3200" b="1" i="0" kern="0" spc="-50" dirty="0" err="1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데이터는</a:t>
            </a: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3200" b="1" i="0" kern="0" spc="-50" dirty="0" err="1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따로</a:t>
            </a: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- </a:t>
            </a:r>
            <a:r>
              <a:rPr lang="en-US" altLang="ko-KR" b="1" dirty="0">
                <a:solidFill>
                  <a:schemeClr val="accent1"/>
                </a:solidFill>
              </a:rPr>
              <a:t>PostgreSQL</a:t>
            </a:r>
            <a:br>
              <a:rPr lang="en-US" altLang="ko-KR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4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71700" y="3792141"/>
            <a:ext cx="774700" cy="76200"/>
          </a:xfrm>
          <a:prstGeom prst="rect">
            <a:avLst/>
          </a:prstGeom>
        </p:spPr>
      </p:pic>
      <p:pic>
        <p:nvPicPr>
          <p:cNvPr id="5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95700" y="3138091"/>
            <a:ext cx="76200" cy="361950"/>
          </a:xfrm>
          <a:prstGeom prst="rect">
            <a:avLst/>
          </a:prstGeom>
        </p:spPr>
      </p:pic>
      <p:pic>
        <p:nvPicPr>
          <p:cNvPr id="6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95700" y="4160441"/>
            <a:ext cx="76200" cy="419100"/>
          </a:xfrm>
          <a:prstGeom prst="rect">
            <a:avLst/>
          </a:prstGeom>
        </p:spPr>
      </p:pic>
      <p:pic>
        <p:nvPicPr>
          <p:cNvPr id="7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21200" y="2153841"/>
            <a:ext cx="1409700" cy="1473200"/>
          </a:xfrm>
          <a:prstGeom prst="rect">
            <a:avLst/>
          </a:prstGeom>
        </p:spPr>
      </p:pic>
      <p:pic>
        <p:nvPicPr>
          <p:cNvPr id="8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21200" y="4033441"/>
            <a:ext cx="1409700" cy="1054100"/>
          </a:xfrm>
          <a:prstGeom prst="rect">
            <a:avLst/>
          </a:prstGeom>
        </p:spPr>
      </p:pic>
      <p:pic>
        <p:nvPicPr>
          <p:cNvPr id="9" name="Image 5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43700" y="2471341"/>
            <a:ext cx="76200" cy="393700"/>
          </a:xfrm>
          <a:prstGeom prst="rect">
            <a:avLst/>
          </a:prstGeom>
        </p:spPr>
      </p:pic>
      <p:pic>
        <p:nvPicPr>
          <p:cNvPr id="10" name="Image 6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43700" y="3423841"/>
            <a:ext cx="76200" cy="393700"/>
          </a:xfrm>
          <a:prstGeom prst="rect">
            <a:avLst/>
          </a:prstGeom>
        </p:spPr>
      </p:pic>
      <p:pic>
        <p:nvPicPr>
          <p:cNvPr id="11" name="Image 7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43700" y="4376341"/>
            <a:ext cx="76200" cy="393700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2463800" y="1874441"/>
            <a:ext cx="2540000" cy="1295202"/>
          </a:xfrm>
          <a:prstGeom prst="roundRect">
            <a:avLst>
              <a:gd name="adj" fmla="val 9805"/>
            </a:avLst>
          </a:prstGeom>
          <a:solidFill>
            <a:srgbClr val="FFFFFF"/>
          </a:solidFill>
          <a:ln/>
        </p:spPr>
      </p:sp>
      <p:sp>
        <p:nvSpPr>
          <p:cNvPr id="13" name="Text 3"/>
          <p:cNvSpPr/>
          <p:nvPr/>
        </p:nvSpPr>
        <p:spPr>
          <a:xfrm>
            <a:off x="2616200" y="1976041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시세·재무 데이터 · 1:N</a:t>
            </a:r>
            <a:endParaRPr lang="en-US" sz="1200" dirty="0"/>
          </a:p>
        </p:txBody>
      </p:sp>
      <p:sp>
        <p:nvSpPr>
          <p:cNvPr id="14" name="Text 4"/>
          <p:cNvSpPr/>
          <p:nvPr/>
        </p:nvSpPr>
        <p:spPr>
          <a:xfrm>
            <a:off x="2616200" y="2214761"/>
            <a:ext cx="230225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daily_prices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valuation_snapshots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financial_statements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disclosures</a:t>
            </a:r>
            <a:endParaRPr lang="en-US" sz="1200" dirty="0"/>
          </a:p>
        </p:txBody>
      </p:sp>
      <p:sp>
        <p:nvSpPr>
          <p:cNvPr id="15" name="Shape 5"/>
          <p:cNvSpPr/>
          <p:nvPr/>
        </p:nvSpPr>
        <p:spPr>
          <a:xfrm>
            <a:off x="812800" y="3512741"/>
            <a:ext cx="1397000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</p:spPr>
      </p:sp>
      <p:sp>
        <p:nvSpPr>
          <p:cNvPr id="16" name="Text 6"/>
          <p:cNvSpPr/>
          <p:nvPr/>
        </p:nvSpPr>
        <p:spPr>
          <a:xfrm>
            <a:off x="965200" y="3614341"/>
            <a:ext cx="1143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markets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965200" y="3853061"/>
            <a:ext cx="1143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시장</a:t>
            </a:r>
            <a:endParaRPr lang="en-US" sz="1200" dirty="0"/>
          </a:p>
        </p:txBody>
      </p:sp>
      <p:sp>
        <p:nvSpPr>
          <p:cNvPr id="18" name="Shape 8"/>
          <p:cNvSpPr/>
          <p:nvPr/>
        </p:nvSpPr>
        <p:spPr>
          <a:xfrm>
            <a:off x="2908300" y="3461941"/>
            <a:ext cx="1651000" cy="756841"/>
          </a:xfrm>
          <a:prstGeom prst="roundRect">
            <a:avLst>
              <a:gd name="adj" fmla="val 16780"/>
            </a:avLst>
          </a:prstGeom>
          <a:solidFill>
            <a:srgbClr val="1034B3"/>
          </a:solidFill>
          <a:ln/>
        </p:spPr>
      </p:sp>
      <p:sp>
        <p:nvSpPr>
          <p:cNvPr id="19" name="Text 9"/>
          <p:cNvSpPr/>
          <p:nvPr/>
        </p:nvSpPr>
        <p:spPr>
          <a:xfrm>
            <a:off x="3060700" y="3614341"/>
            <a:ext cx="1397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stocks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3060700" y="3853061"/>
            <a:ext cx="1397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종목 · 중심 테이블</a:t>
            </a:r>
            <a:endParaRPr lang="en-US" sz="1200" dirty="0"/>
          </a:p>
        </p:txBody>
      </p:sp>
      <p:sp>
        <p:nvSpPr>
          <p:cNvPr id="21" name="Shape 11"/>
          <p:cNvSpPr/>
          <p:nvPr/>
        </p:nvSpPr>
        <p:spPr>
          <a:xfrm>
            <a:off x="2463800" y="4541441"/>
            <a:ext cx="2540000" cy="868561"/>
          </a:xfrm>
          <a:prstGeom prst="roundRect">
            <a:avLst>
              <a:gd name="adj" fmla="val 14622"/>
            </a:avLst>
          </a:prstGeom>
          <a:solidFill>
            <a:srgbClr val="FFFFFF"/>
          </a:solidFill>
          <a:ln/>
        </p:spPr>
      </p:sp>
      <p:sp>
        <p:nvSpPr>
          <p:cNvPr id="22" name="Text 12"/>
          <p:cNvSpPr/>
          <p:nvPr/>
        </p:nvSpPr>
        <p:spPr>
          <a:xfrm>
            <a:off x="2616200" y="4643041"/>
            <a:ext cx="2302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경쟁 그룹 · N:M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2616200" y="4881761"/>
            <a:ext cx="23022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peer_groups ⇄ peer_group_members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5892800" y="1874441"/>
            <a:ext cx="1778000" cy="655241"/>
          </a:xfrm>
          <a:prstGeom prst="roundRect">
            <a:avLst>
              <a:gd name="adj" fmla="val 19382"/>
            </a:avLst>
          </a:prstGeom>
          <a:solidFill>
            <a:srgbClr val="DCE4FA"/>
          </a:solidFill>
          <a:ln/>
        </p:spPr>
      </p:sp>
      <p:sp>
        <p:nvSpPr>
          <p:cNvPr id="25" name="Text 15"/>
          <p:cNvSpPr/>
          <p:nvPr/>
        </p:nvSpPr>
        <p:spPr>
          <a:xfrm>
            <a:off x="6045200" y="197604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watchlist_items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6045200" y="221476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관심종목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5892800" y="2826941"/>
            <a:ext cx="1778000" cy="655241"/>
          </a:xfrm>
          <a:prstGeom prst="roundRect">
            <a:avLst>
              <a:gd name="adj" fmla="val 19382"/>
            </a:avLst>
          </a:prstGeom>
          <a:solidFill>
            <a:srgbClr val="FFFFFF"/>
          </a:solidFill>
          <a:ln/>
        </p:spPr>
      </p:sp>
      <p:sp>
        <p:nvSpPr>
          <p:cNvPr id="28" name="Text 18"/>
          <p:cNvSpPr/>
          <p:nvPr/>
        </p:nvSpPr>
        <p:spPr>
          <a:xfrm>
            <a:off x="6045200" y="292854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users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6045200" y="316726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사용자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5892800" y="3779441"/>
            <a:ext cx="1778000" cy="655241"/>
          </a:xfrm>
          <a:prstGeom prst="roundRect">
            <a:avLst>
              <a:gd name="adj" fmla="val 19382"/>
            </a:avLst>
          </a:prstGeom>
          <a:solidFill>
            <a:srgbClr val="DCE4FA"/>
          </a:solidFill>
          <a:ln/>
        </p:spPr>
      </p:sp>
      <p:sp>
        <p:nvSpPr>
          <p:cNvPr id="31" name="Text 21"/>
          <p:cNvSpPr/>
          <p:nvPr/>
        </p:nvSpPr>
        <p:spPr>
          <a:xfrm>
            <a:off x="6045200" y="388104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portfolios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6045200" y="411976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모의 포트폴리오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5892800" y="4731941"/>
            <a:ext cx="1778000" cy="655241"/>
          </a:xfrm>
          <a:prstGeom prst="roundRect">
            <a:avLst>
              <a:gd name="adj" fmla="val 19382"/>
            </a:avLst>
          </a:prstGeom>
          <a:solidFill>
            <a:srgbClr val="DCE4FA"/>
          </a:solidFill>
          <a:ln/>
        </p:spPr>
      </p:sp>
      <p:sp>
        <p:nvSpPr>
          <p:cNvPr id="34" name="Text 24"/>
          <p:cNvSpPr/>
          <p:nvPr/>
        </p:nvSpPr>
        <p:spPr>
          <a:xfrm>
            <a:off x="6045200" y="483354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6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portfolio_items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6045200" y="5072261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담은 종목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8077200" y="2823170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시장을 따로 뺀 이유</a:t>
            </a:r>
            <a:endParaRPr lang="en-US" sz="1500" dirty="0"/>
          </a:p>
        </p:txBody>
      </p:sp>
      <p:sp>
        <p:nvSpPr>
          <p:cNvPr id="37" name="Text 27"/>
          <p:cNvSpPr/>
          <p:nvPr/>
        </p:nvSpPr>
        <p:spPr>
          <a:xfrm>
            <a:off x="8077200" y="3089870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국가·통화·시간대를 markets 한 곳에서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8077200" y="3496270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N:M 연결 테이블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8077200" y="3762970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한 종목이 여러 경쟁 그룹에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8077200" y="4169370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의도적 비정규화</a:t>
            </a:r>
            <a:endParaRPr lang="en-US" sz="1500" dirty="0"/>
          </a:p>
        </p:txBody>
      </p:sp>
      <p:sp>
        <p:nvSpPr>
          <p:cNvPr id="41" name="Text 31"/>
          <p:cNvSpPr/>
          <p:nvPr/>
        </p:nvSpPr>
        <p:spPr>
          <a:xfrm>
            <a:off x="8077200" y="4436070"/>
            <a:ext cx="34010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담은 날 가격·환율을 복사 → ‘얼마에 담았나’가 남는다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 · 전체 25개 테이블 중 핵심만 표시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3740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 · DEMO · 프로그램 시연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ko-KR" alt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시연 </a:t>
            </a:r>
            <a:r>
              <a:rPr lang="en-US" sz="3200" b="1" i="0" kern="0" spc="-50" dirty="0" err="1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시나리오</a:t>
            </a: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: 투자 입문자의 첫 사용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96622" y="2574549"/>
            <a:ext cx="940394" cy="950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034B3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03483" y="3778284"/>
            <a:ext cx="1540369" cy="22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홈 둘러보기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32748" y="4221846"/>
            <a:ext cx="1505103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요약 · TOP 5</a:t>
            </a:r>
            <a:endParaRPr lang="en-US" sz="1600" dirty="0"/>
          </a:p>
        </p:txBody>
      </p:sp>
      <p:pic>
        <p:nvPicPr>
          <p:cNvPr id="7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14816" y="2955740"/>
            <a:ext cx="574578" cy="2298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07961" y="2574549"/>
            <a:ext cx="1012843" cy="9505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034B3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346583" y="3778284"/>
            <a:ext cx="1242893" cy="22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종목 상세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142260" y="4221846"/>
            <a:ext cx="1563729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매력도 · 근거</a:t>
            </a:r>
            <a:endParaRPr lang="en-US" sz="1600" dirty="0"/>
          </a:p>
        </p:txBody>
      </p:sp>
      <p:pic>
        <p:nvPicPr>
          <p:cNvPr id="11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43616" y="2955740"/>
            <a:ext cx="574578" cy="2298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5272" y="2574549"/>
            <a:ext cx="1019224" cy="950515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 w="19050">
            <a:solidFill>
              <a:srgbClr val="1034B3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61083" y="3778284"/>
            <a:ext cx="1540369" cy="22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관심종목 ★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062500" y="4221846"/>
            <a:ext cx="1285797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추가 · 메모</a:t>
            </a:r>
            <a:endParaRPr lang="en-US" sz="1600" dirty="0"/>
          </a:p>
        </p:txBody>
      </p:sp>
      <p:pic>
        <p:nvPicPr>
          <p:cNvPr id="15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72416" y="2955740"/>
            <a:ext cx="574578" cy="22983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59309" y="2574549"/>
            <a:ext cx="1038983" cy="950515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 w="19050">
            <a:solidFill>
              <a:srgbClr val="1034B3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828469" y="3778284"/>
            <a:ext cx="1487382" cy="22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포트폴리오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932972" y="4221846"/>
            <a:ext cx="1159135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시드 설정</a:t>
            </a:r>
            <a:endParaRPr lang="en-US" sz="1600" dirty="0"/>
          </a:p>
        </p:txBody>
      </p:sp>
      <p:pic>
        <p:nvPicPr>
          <p:cNvPr id="19" name="Image 3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01216" y="2955740"/>
            <a:ext cx="574578" cy="22983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92673" y="2574549"/>
            <a:ext cx="1019841" cy="950515"/>
          </a:xfrm>
          <a:prstGeom prst="roundRect">
            <a:avLst>
              <a:gd name="adj" fmla="val 50000"/>
            </a:avLst>
          </a:prstGeom>
          <a:solidFill>
            <a:srgbClr val="1034B3"/>
          </a:solidFill>
          <a:ln w="19050">
            <a:solidFill>
              <a:srgbClr val="1034B3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810681" y="3778284"/>
            <a:ext cx="1242893" cy="229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종목 담기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8462162" y="4221846"/>
            <a:ext cx="1888887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담기 · 수량 수정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3783654" y="5397517"/>
            <a:ext cx="771188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○</a:t>
            </a: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조회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489023" y="5397517"/>
            <a:ext cx="4563259" cy="13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●</a:t>
            </a:r>
            <a:r>
              <a:rPr lang="en-US" sz="16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등록 → 조회 → 수정 → 삭제 (CRUD)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stockmind-538269380647.asia-northeast3.run.app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626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 · TROUBLESHOOTING · 문제 해결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개발 중 만난 문제 두 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25241"/>
            <a:ext cx="5207000" cy="3916759"/>
          </a:xfrm>
          <a:prstGeom prst="roundRect">
            <a:avLst>
              <a:gd name="adj" fmla="val 453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7924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외부 데이터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544961"/>
            <a:ext cx="48399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국내 시총·PER이 빈 값으로 왔다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6800" y="3102686"/>
            <a:ext cx="508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원인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51000" y="3102686"/>
            <a:ext cx="42382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pykrx가 KRX 로그인을 요구하는데, </a:t>
            </a:r>
            <a:r>
              <a:rPr lang="en-US" sz="1400" dirty="0" err="1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배포</a:t>
            </a:r>
            <a:r>
              <a:rPr lang="en-US" sz="14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환경(Cloud Run)에서는 로그인이 간헐적으로 실패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6800" y="3956184"/>
            <a:ext cx="50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해결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51000" y="3956184"/>
            <a:ext cx="42382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 err="1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국내</a:t>
            </a:r>
            <a:r>
              <a:rPr lang="en-US" sz="14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데이터는 pykrx 대신 KIS를 쓸 수 있는 옵션 추가, 실패 시 yfinance·DART 값으로 대체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6800" y="4809685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결과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51000" y="4809685"/>
            <a:ext cx="42382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새 DB 재현에서 적재 실패 0건, pykrx가 막혀도 KIS로 바꿔 수집 가능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925241"/>
            <a:ext cx="5207000" cy="3916759"/>
          </a:xfrm>
          <a:prstGeom prst="roundRect">
            <a:avLst>
              <a:gd name="adj" fmla="val 453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26200" y="217924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협업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6200" y="2544961"/>
            <a:ext cx="48399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합칠 때마다 서로 규격이 어긋났다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26200" y="3102686"/>
            <a:ext cx="50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원인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10400" y="3102686"/>
            <a:ext cx="423824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각자 다른 응답 형식·컬럼을 가정 (예: users·portfolios 스키마 불일치)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26200" y="3956184"/>
            <a:ext cx="50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해결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10400" y="3956184"/>
            <a:ext cx="423824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단계 시작 전 응답 JSON·스키마를 문서로 먼저 합의, 계약 검사 통과 후 PR 머지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26200" y="4809685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결과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10400" y="4809685"/>
            <a:ext cx="4238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빈 껍데기 함수 위에서 4명이 기다림 없이 병렬 개발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77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50" dirty="0">
                <a:solidFill>
                  <a:srgbClr val="1034B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 · NEXT · 앞으로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kern="0" spc="-50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다음에 더할 기능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25241"/>
            <a:ext cx="3420467" cy="1882180"/>
          </a:xfrm>
          <a:prstGeom prst="roundRect">
            <a:avLst>
              <a:gd name="adj" fmla="val 9446"/>
            </a:avLst>
          </a:prstGeom>
          <a:solidFill>
            <a:srgbClr val="1034B3"/>
          </a:solidFill>
          <a:ln/>
        </p:spPr>
      </p:sp>
      <p:pic>
        <p:nvPicPr>
          <p:cNvPr id="5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2153841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2484041"/>
            <a:ext cx="29998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유명 투자자 포트폴리오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66800" y="2788841"/>
            <a:ext cx="299984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13F 공시로 유명 투자자의 보유 종목을 가져와 비교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5667" y="1925241"/>
            <a:ext cx="3420566" cy="1882180"/>
          </a:xfrm>
          <a:prstGeom prst="roundRect">
            <a:avLst>
              <a:gd name="adj" fmla="val 9446"/>
            </a:avLst>
          </a:prstGeom>
          <a:solidFill>
            <a:srgbClr val="1034B3"/>
          </a:solidFill>
          <a:ln/>
        </p:spPr>
      </p:sp>
      <p:pic>
        <p:nvPicPr>
          <p:cNvPr id="9" name="Image 1" descr="Lightbulb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9667" y="2153841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9667" y="2484041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투자자 모델링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39667" y="2788841"/>
            <a:ext cx="299994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투자 분석으로 투자 방식을 모델링 —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“그 투자자라면 샀을까?”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58634" y="1925241"/>
            <a:ext cx="3420566" cy="1882180"/>
          </a:xfrm>
          <a:prstGeom prst="roundRect">
            <a:avLst>
              <a:gd name="adj" fmla="val 9446"/>
            </a:avLst>
          </a:prstGeom>
          <a:solidFill>
            <a:srgbClr val="DCE4FA"/>
          </a:solidFill>
          <a:ln/>
        </p:spPr>
      </p:sp>
      <p:pic>
        <p:nvPicPr>
          <p:cNvPr id="13" name="Image 2" descr="Boo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12634" y="2153841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12634" y="2484041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분석 보고서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12634" y="2788841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B456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편집된 데이터를 읽기 쉬운 문장 보고서로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2800" y="3959820"/>
            <a:ext cx="3420467" cy="1882180"/>
          </a:xfrm>
          <a:prstGeom prst="roundRect">
            <a:avLst>
              <a:gd name="adj" fmla="val 9446"/>
            </a:avLst>
          </a:prstGeom>
          <a:solidFill>
            <a:srgbClr val="FFFFFF"/>
          </a:solidFill>
          <a:ln/>
        </p:spPr>
      </p:sp>
      <p:pic>
        <p:nvPicPr>
          <p:cNvPr id="17" name="Image 3" descr="Key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66800" y="4188420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66800" y="4518620"/>
            <a:ext cx="29998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로그인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66800" y="4823420"/>
            <a:ext cx="31664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내 관심종목·포트폴리오를 어느 기기에서나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85667" y="3959820"/>
            <a:ext cx="3420566" cy="1882180"/>
          </a:xfrm>
          <a:prstGeom prst="roundRect">
            <a:avLst>
              <a:gd name="adj" fmla="val 9446"/>
            </a:avLst>
          </a:prstGeom>
          <a:solidFill>
            <a:srgbClr val="FFFFFF"/>
          </a:solidFill>
          <a:ln/>
        </p:spPr>
      </p:sp>
      <p:pic>
        <p:nvPicPr>
          <p:cNvPr id="21" name="Image 4" descr="Lightni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39667" y="4188420"/>
            <a:ext cx="254000" cy="254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39667" y="4518620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500" b="1" dirty="0"/>
              <a:t>더 실시간에 가까운 값들</a:t>
            </a:r>
            <a:endParaRPr lang="en-US" sz="1500" b="1" dirty="0"/>
          </a:p>
        </p:txBody>
      </p:sp>
      <p:sp>
        <p:nvSpPr>
          <p:cNvPr id="23" name="Text 16"/>
          <p:cNvSpPr/>
          <p:nvPr/>
        </p:nvSpPr>
        <p:spPr>
          <a:xfrm>
            <a:off x="4639667" y="4823420"/>
            <a:ext cx="2999943" cy="77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지수 환율 스케줄링 주기 조정</a:t>
            </a:r>
            <a:endParaRPr lang="en-US" altLang="ko-KR" sz="1200" dirty="0">
              <a:solidFill>
                <a:srgbClr val="434B60"/>
              </a:solidFill>
              <a:latin typeface="Plus Jakarta Sans" pitchFamily="34" charset="0"/>
              <a:ea typeface="Plus Jakarta Sans" pitchFamily="34" charset="-122"/>
              <a:cs typeface="Plus Jakarta Sans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종목 세부 정보에서 실시간 </a:t>
            </a:r>
            <a:r>
              <a:rPr lang="en-US" sz="1200" dirty="0" err="1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가격</a:t>
            </a: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ko-KR" alt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확인 기능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958634" y="3959820"/>
            <a:ext cx="3420566" cy="1882180"/>
          </a:xfrm>
          <a:prstGeom prst="roundRect">
            <a:avLst>
              <a:gd name="adj" fmla="val 9446"/>
            </a:avLst>
          </a:prstGeom>
          <a:solidFill>
            <a:srgbClr val="FFFFFF"/>
          </a:solidFill>
          <a:ln/>
        </p:spPr>
      </p:sp>
      <p:pic>
        <p:nvPicPr>
          <p:cNvPr id="25" name="Image 5" descr="Chart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12634" y="4188420"/>
            <a:ext cx="254000" cy="254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12634" y="4518620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6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매매 일지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212634" y="4823420"/>
            <a:ext cx="29999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34B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내 투자 기록과 통계를 한곳에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 · 팀 C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34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636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5200" y="8636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0160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65200" y="10160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93800" y="812800"/>
            <a:ext cx="16337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</a:t>
            </a:r>
            <a:endParaRPr lang="en-US" sz="2000" dirty="0"/>
          </a:p>
        </p:txBody>
      </p:sp>
      <p:sp>
        <p:nvSpPr>
          <p:cNvPr id="7" name="Text 5"/>
          <p:cNvSpPr>
            <a:spLocks noGrp="1"/>
          </p:cNvSpPr>
          <p:nvPr>
            <p:ph type="title"/>
          </p:nvPr>
        </p:nvSpPr>
        <p:spPr>
          <a:xfrm>
            <a:off x="812800" y="2724249"/>
            <a:ext cx="10883392" cy="7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sz="4800" b="1" i="0" kern="0" spc="-1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12800" y="357763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DCE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질의응답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2800" y="54889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팀 C · 최석훈 · 류한솔 · 이태경 · 하재현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3D1F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stockmind-538269380647.asia-northeast3.run.app · github.com/Hunseokc/ax_stockmind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ckMind 최종 발표">
  <a:themeElements>
    <a:clrScheme name="StockMind 최종 발표">
      <a:dk1>
        <a:srgbClr val="0D1633"/>
      </a:dk1>
      <a:lt1>
        <a:srgbClr val="E9EBEA"/>
      </a:lt1>
      <a:dk2>
        <a:srgbClr val="444B61"/>
      </a:dk2>
      <a:lt2>
        <a:srgbClr val="D3D6D8"/>
      </a:lt2>
      <a:accent1>
        <a:srgbClr val="1034B3"/>
      </a:accent1>
      <a:accent2>
        <a:srgbClr val="C3D1F6"/>
      </a:accent2>
      <a:accent3>
        <a:srgbClr val="3B4565"/>
      </a:accent3>
      <a:accent4>
        <a:srgbClr val="5B6377"/>
      </a:accent4>
      <a:accent5>
        <a:srgbClr val="434B60"/>
      </a:accent5>
      <a:accent6>
        <a:srgbClr val="9AA0A6"/>
      </a:accent6>
      <a:hlink>
        <a:srgbClr val="0563C1"/>
      </a:hlink>
      <a:folHlink>
        <a:srgbClr val="954F72"/>
      </a:folHlink>
    </a:clrScheme>
    <a:fontScheme name="StockMind 최종 발표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2619</Words>
  <Application>Microsoft Office PowerPoint</Application>
  <PresentationFormat>와이드스크린</PresentationFormat>
  <Paragraphs>398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JetBrains Mono</vt:lpstr>
      <vt:lpstr>Plus Jakarta Sans</vt:lpstr>
      <vt:lpstr>Arial</vt:lpstr>
      <vt:lpstr>StockMind 최종 발표</vt:lpstr>
      <vt:lpstr>국내·미국 주식 분석 대시보드 </vt:lpstr>
      <vt:lpstr>StockMind 프로젝트 소개</vt:lpstr>
      <vt:lpstr>여섯 단계로 나눠 만들었습니다</vt:lpstr>
      <vt:lpstr>더 많은 데이터가 아니라, 잘 편집된 데이터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요구 사항 정의 - 기능별 구현 </vt:lpstr>
      <vt:lpstr>데이터 수집부터 화면 출력까지 흐름</vt:lpstr>
      <vt:lpstr>종목을 가운데 두고, 사용자 데이터는 따로 - PostgreSQL </vt:lpstr>
      <vt:lpstr>시연 시나리오: 투자 입문자의 첫 사용</vt:lpstr>
      <vt:lpstr>개발 중 만난 문제 두 가지</vt:lpstr>
      <vt:lpstr>다음에 더할 기능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StockMind 최종 발표</dc:title>
  <dc:subject/>
  <dc:creator/>
  <cp:lastModifiedBy>kjca010</cp:lastModifiedBy>
  <cp:revision>89</cp:revision>
  <dcterms:created xsi:type="dcterms:W3CDTF">2026-10-20T00:48:02Z</dcterms:created>
  <dcterms:modified xsi:type="dcterms:W3CDTF">2026-10-21T07:47:20Z</dcterms:modified>
</cp:coreProperties>
</file>